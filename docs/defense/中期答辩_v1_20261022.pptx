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371600"/>
            <a:ext cx="54864" cy="2377440"/>
          </a:xfrm>
          <a:prstGeom prst="rect">
            <a:avLst/>
          </a:prstGeom>
          <a:solidFill>
            <a:srgbClr val="4D6884"/>
          </a:solidFill>
          <a:ln>
            <a:solidFill>
              <a:srgbClr val="4D6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258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00" b="1" i="0">
                <a:solidFill>
                  <a:srgbClr val="4D6884"/>
                </a:solidFill>
                <a:latin typeface="Songti SC"/>
              </a:defRPr>
            </a:pPr>
            <a:r>
              <a:t>国家级大学生创新创业训练计划 · 中期检查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700784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3800" b="1" i="0">
                <a:solidFill>
                  <a:srgbClr val="1D2024"/>
                </a:solidFill>
                <a:latin typeface="Songti SC"/>
              </a:defRPr>
            </a:pPr>
            <a:r>
              <a:t>多机协同智能功率控制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defRPr sz="3800" b="1" i="0">
                <a:solidFill>
                  <a:srgbClr val="1D2024"/>
                </a:solidFill>
                <a:latin typeface="Songti SC"/>
              </a:defRPr>
            </a:pPr>
            <a:r>
              <a:t>与数字孪生演示平台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4612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400" b="0" i="0">
                <a:solidFill>
                  <a:srgbClr val="495057"/>
                </a:solidFill>
                <a:latin typeface="Songti SC"/>
              </a:defRPr>
            </a:pPr>
            <a:r>
              <a:t>从代理模型到协同控制，从数字孪生到可复现验证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977639"/>
            <a:ext cx="4754880" cy="9144"/>
          </a:xfrm>
          <a:prstGeom prst="rect">
            <a:avLst/>
          </a:prstGeom>
          <a:solidFill>
            <a:srgbClr val="DEE2E6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160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500"/>
              </a:spcBef>
              <a:defRPr sz="1150" b="0" i="0">
                <a:solidFill>
                  <a:srgbClr val="495057"/>
                </a:solidFill>
                <a:latin typeface="Songti SC"/>
              </a:defRPr>
            </a:pPr>
            <a:r>
              <a:t>汇报人：孙承泽　｜　指导教师：李良星 副教授</a:t>
            </a:r>
          </a:p>
          <a:p>
            <a:pPr algn="l">
              <a:lnSpc>
                <a:spcPct val="130000"/>
              </a:lnSpc>
              <a:spcBef>
                <a:spcPts val="500"/>
              </a:spcBef>
              <a:defRPr sz="1150" b="0" i="0">
                <a:solidFill>
                  <a:srgbClr val="495057"/>
                </a:solidFill>
                <a:latin typeface="Songti SC"/>
              </a:defRPr>
            </a:pPr>
            <a:r>
              <a:t>团队：厉今飞（项目负责人 / AI）· 袁夫达（建模）· 田铭雨（仿真）· 洪祖名（优化控制）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669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50" b="0" i="0">
                <a:solidFill>
                  <a:srgbClr val="495057"/>
                </a:solidFill>
                <a:latin typeface="Songti SC"/>
              </a:defRPr>
            </a:pPr>
            <a:r>
              <a:t>2026 年 10 月 · 西安交通大学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84048"/>
            <a:ext cx="10725912" cy="18288"/>
          </a:xfrm>
          <a:prstGeom prst="rect">
            <a:avLst/>
          </a:prstGeom>
          <a:solidFill>
            <a:srgbClr val="2B2F33"/>
          </a:solidFill>
          <a:ln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0" y="457200"/>
            <a:ext cx="14904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95057"/>
                </a:solidFill>
                <a:latin typeface="Arial"/>
              </a:defRPr>
            </a:pPr>
            <a:r>
              <a:t>01 / 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5912" cy="9144"/>
          </a:xfrm>
          <a:prstGeom prst="rect">
            <a:avLst/>
          </a:prstGeom>
          <a:solidFill>
            <a:srgbClr val="DEE2E6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5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95057"/>
                </a:solidFill>
                <a:latin typeface="Arial"/>
              </a:defRPr>
            </a:pPr>
            <a:r>
              <a:t>多机协同智能功率控制与数字孪生演示 · 中期检查 2026-10 | 汇报人：孙承泽 | 指导教师：李良星 副教授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2000" b="1" i="0">
                <a:solidFill>
                  <a:srgbClr val="1D2024"/>
                </a:solidFill>
                <a:latin typeface="Songti SC"/>
              </a:defRPr>
            </a:pPr>
            <a:r>
              <a:t>一页看懂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00" b="1" i="0">
                <a:solidFill>
                  <a:srgbClr val="4D6884"/>
                </a:solidFill>
                <a:latin typeface="Songti SC"/>
              </a:defRPr>
            </a:pPr>
            <a:r>
              <a:t>四个数字，四个问题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100" b="0" i="1">
                <a:solidFill>
                  <a:srgbClr val="495057"/>
                </a:solidFill>
                <a:latin typeface="Songti SC"/>
              </a:defRPr>
            </a:pPr>
            <a:r>
              <a:t>接口通没通 · 学习有没有效 · 系统稳不稳 · 结果能不能被检查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5212080" cy="1783080"/>
          </a:xfrm>
          <a:prstGeom prst="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39112"/>
            <a:ext cx="4572000" cy="61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defRPr sz="4000" b="1" i="0">
                <a:solidFill>
                  <a:srgbClr val="4D6884"/>
                </a:solidFill>
                <a:latin typeface="Arial"/>
              </a:defRPr>
            </a:pPr>
            <a:r>
              <a:t>12 →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9138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200"/>
              </a:spcBef>
              <a:defRPr sz="1050" b="0" i="0">
                <a:solidFill>
                  <a:srgbClr val="495057"/>
                </a:solidFill>
                <a:latin typeface="Songti SC"/>
              </a:defRPr>
            </a:pPr>
            <a:r>
              <a:t>十二维来流与控制输入 → 六维功率与有效风速输出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200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00" b="0" i="0">
                <a:solidFill>
                  <a:srgbClr val="8C5D5D"/>
                </a:solidFill>
                <a:latin typeface="Songti SC"/>
              </a:defRPr>
            </a:pPr>
            <a:r>
              <a:t>【代理】接口已通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783080"/>
            <a:ext cx="5212080" cy="1783080"/>
          </a:xfrm>
          <a:prstGeom prst="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039112"/>
            <a:ext cx="4572000" cy="61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defRPr sz="4000" b="1" i="0">
                <a:solidFill>
                  <a:srgbClr val="516447"/>
                </a:solidFill>
                <a:latin typeface="Arial"/>
              </a:defRPr>
            </a:pPr>
            <a:r>
              <a:t>−58.5%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9138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200"/>
              </a:spcBef>
              <a:defRPr sz="1050" b="0" i="0">
                <a:solidFill>
                  <a:srgbClr val="495057"/>
                </a:solidFill>
                <a:latin typeface="Songti SC"/>
              </a:defRPr>
            </a:pPr>
            <a:r>
              <a:t>三机功率跟踪误差 1083.62 → 449.72 kW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200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00" b="0" i="0">
                <a:solidFill>
                  <a:srgbClr val="8C5D5D"/>
                </a:solidFill>
                <a:latin typeface="Songti SC"/>
              </a:defRPr>
            </a:pPr>
            <a:r>
              <a:t>【代理】合成入口与标签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794760"/>
            <a:ext cx="5212080" cy="1783080"/>
          </a:xfrm>
          <a:prstGeom prst="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050792"/>
            <a:ext cx="4572000" cy="61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defRPr sz="4000" b="1" i="0">
                <a:solidFill>
                  <a:srgbClr val="4D6884"/>
                </a:solidFill>
                <a:latin typeface="Arial"/>
              </a:defRPr>
            </a:pPr>
            <a:r>
              <a:t>161 / 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70306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200"/>
              </a:spcBef>
              <a:defRPr sz="1050" b="0" i="0">
                <a:solidFill>
                  <a:srgbClr val="495057"/>
                </a:solidFill>
                <a:latin typeface="Songti SC"/>
              </a:defRPr>
            </a:pPr>
            <a:r>
              <a:t>数字孪生自检 通过 / 失败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212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00" b="0" i="0">
                <a:solidFill>
                  <a:srgbClr val="8C5D5D"/>
                </a:solidFill>
                <a:latin typeface="Songti SC"/>
              </a:defRPr>
            </a:pPr>
            <a:r>
              <a:t>【实测】本仓库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794760"/>
            <a:ext cx="5212080" cy="1783080"/>
          </a:xfrm>
          <a:prstGeom prst="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050792"/>
            <a:ext cx="4572000" cy="61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defRPr sz="4000" b="1" i="0">
                <a:solidFill>
                  <a:srgbClr val="516447"/>
                </a:solidFill>
                <a:latin typeface="Arial"/>
              </a:defRPr>
            </a:pPr>
            <a:r>
              <a:t>0 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70306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200"/>
              </a:spcBef>
              <a:defRPr sz="1050" b="0" i="0">
                <a:solidFill>
                  <a:srgbClr val="495057"/>
                </a:solidFill>
                <a:latin typeface="Songti SC"/>
              </a:defRPr>
            </a:pPr>
            <a:r>
              <a:t>30,720 行轨迹复算与原始记录的差值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212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00" b="0" i="0">
                <a:solidFill>
                  <a:srgbClr val="8C5D5D"/>
                </a:solidFill>
                <a:latin typeface="Songti SC"/>
              </a:defRPr>
            </a:pPr>
            <a:r>
              <a:t>【实测】可复现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742432"/>
            <a:ext cx="10725912" cy="420624"/>
          </a:xfrm>
          <a:prstGeom prst="rect">
            <a:avLst/>
          </a:prstGeom>
          <a:solidFill>
            <a:srgbClr val="FFFFFF"/>
          </a:solidFill>
          <a:ln>
            <a:solidFill>
              <a:srgbClr val="B9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8C5D5D"/>
                </a:solidFill>
                <a:latin typeface="Songti SC"/>
              </a:rPr>
              <a:t>说明：本页四个数字分属两类口径——「代理」指合成入口与合成标签下的代理模型结果，「实测」指本仓库可当场复跑的门禁与复算。两类不得混写。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84048"/>
            <a:ext cx="10725912" cy="18288"/>
          </a:xfrm>
          <a:prstGeom prst="rect">
            <a:avLst/>
          </a:prstGeom>
          <a:solidFill>
            <a:srgbClr val="2B2F33"/>
          </a:solidFill>
          <a:ln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0" y="457200"/>
            <a:ext cx="14904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95057"/>
                </a:solidFill>
                <a:latin typeface="Arial"/>
              </a:defRPr>
            </a:pPr>
            <a:r>
              <a:t>02 / 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5912" cy="9144"/>
          </a:xfrm>
          <a:prstGeom prst="rect">
            <a:avLst/>
          </a:prstGeom>
          <a:solidFill>
            <a:srgbClr val="DEE2E6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5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95057"/>
                </a:solidFill>
                <a:latin typeface="Arial"/>
              </a:defRPr>
            </a:pPr>
            <a:r>
              <a:t>多机协同智能功率控制与数字孪生演示 · 中期检查 2026-10 | 汇报人：孙承泽 | 指导教师：李良星 副教授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2000" b="1" i="0">
                <a:solidFill>
                  <a:srgbClr val="1D2024"/>
                </a:solidFill>
                <a:latin typeface="Songti SC"/>
              </a:defRPr>
            </a:pPr>
            <a:r>
              <a:t>尾流的代价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00" b="1" i="0">
                <a:solidFill>
                  <a:srgbClr val="4D6884"/>
                </a:solidFill>
                <a:latin typeface="Songti SC"/>
              </a:defRPr>
            </a:pPr>
            <a:r>
              <a:t>我们到底在省什么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100" b="0" i="1">
                <a:solidFill>
                  <a:srgbClr val="495057"/>
                </a:solidFill>
                <a:latin typeface="Songti SC"/>
              </a:defRPr>
            </a:pPr>
            <a:r>
              <a:t>先给行业上限，再谈我们的位置——这是本场唯一一次「先自曝」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3977639" cy="2788920"/>
          </a:xfrm>
          <a:prstGeom prst="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50292" cy="2788920"/>
          </a:xfrm>
          <a:prstGeom prst="rect">
            <a:avLst/>
          </a:prstGeom>
          <a:solidFill>
            <a:srgbClr val="8C5D5D"/>
          </a:solidFill>
          <a:ln>
            <a:solidFill>
              <a:srgbClr val="8C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810512"/>
            <a:ext cx="3429000" cy="702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defRPr sz="4600" b="1" i="0">
                <a:solidFill>
                  <a:srgbClr val="8C5D5D"/>
                </a:solidFill>
                <a:latin typeface="Arial"/>
              </a:defRPr>
            </a:pPr>
            <a:r>
              <a:t>48.6%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549652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200"/>
              </a:spcBef>
              <a:defRPr sz="1050" b="0" i="0">
                <a:solidFill>
                  <a:srgbClr val="495057"/>
                </a:solidFill>
                <a:latin typeface="Songti SC"/>
              </a:defRPr>
            </a:pPr>
            <a:r>
              <a:t>1×3 串列：无尾流 5261.9 kW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defRPr sz="1050" b="0" i="0">
                <a:solidFill>
                  <a:srgbClr val="495057"/>
                </a:solidFill>
                <a:latin typeface="Songti SC"/>
              </a:defRPr>
            </a:pPr>
            <a:r>
              <a:t>→ 有尾流 2702.2 kW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310128"/>
            <a:ext cx="3429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200"/>
              </a:spcBef>
              <a:defRPr sz="1000" b="0" i="0">
                <a:solidFill>
                  <a:srgbClr val="8C5D5D"/>
                </a:solidFill>
                <a:latin typeface="Songti SC"/>
              </a:defRPr>
            </a:pPr>
            <a:r>
              <a:t>本项目模拟值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defRPr sz="1000" b="0" i="0">
                <a:solidFill>
                  <a:srgbClr val="8C5D5D"/>
                </a:solidFill>
                <a:latin typeface="Songti SC"/>
              </a:defRPr>
            </a:pPr>
            <a:r>
              <a:t>【真值 = FLORIS 4.6.6 · GCH · R42 oracle】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968496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00" b="0" i="0">
                <a:solidFill>
                  <a:srgbClr val="495057"/>
                </a:solidFill>
                <a:latin typeface="Songti SC"/>
              </a:defRPr>
            </a:pPr>
            <a:r>
              <a:t>真实风场远低于此值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92040" y="1645920"/>
            <a:ext cx="6565392" cy="804672"/>
          </a:xfrm>
          <a:prstGeom prst="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737360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100" b="1" i="0">
                <a:solidFill>
                  <a:srgbClr val="4D6884"/>
                </a:solidFill>
                <a:latin typeface="Songti SC"/>
              </a:defRPr>
            </a:pPr>
            <a:r>
              <a:t>国际实测区间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029968"/>
            <a:ext cx="6035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00" b="0" i="0">
                <a:solidFill>
                  <a:srgbClr val="495057"/>
                </a:solidFill>
                <a:latin typeface="Songti SC"/>
              </a:defRPr>
            </a:pPr>
            <a:r>
              <a:t>真实风场未控制尾流损失约 4%–20%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173736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00" b="1" i="0">
                <a:solidFill>
                  <a:srgbClr val="8C5D5D"/>
                </a:solidFill>
                <a:latin typeface="Songti SC"/>
              </a:defRPr>
            </a:pPr>
            <a:r>
              <a:t>【外部 · WES 2024】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92040" y="2578608"/>
            <a:ext cx="6565392" cy="804672"/>
          </a:xfrm>
          <a:prstGeom prst="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4920" y="2670048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100" b="1" i="0">
                <a:solidFill>
                  <a:srgbClr val="4D6884"/>
                </a:solidFill>
                <a:latin typeface="Songti SC"/>
              </a:defRPr>
            </a:pPr>
            <a:r>
              <a:t>国际提升上限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2962656"/>
            <a:ext cx="6035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00" b="0" i="0">
                <a:solidFill>
                  <a:srgbClr val="495057"/>
                </a:solidFill>
                <a:latin typeface="Songti SC"/>
              </a:defRPr>
            </a:pPr>
            <a:r>
              <a:t>wake steering 年发电量增益 0.4%–1.7%，60 场站平均 0.8%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670048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00" b="1" i="0">
                <a:solidFill>
                  <a:srgbClr val="8C5D5D"/>
                </a:solidFill>
                <a:latin typeface="Songti SC"/>
              </a:defRPr>
            </a:pPr>
            <a:r>
              <a:t>【外部 · Bensason 2021】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92040" y="3511296"/>
            <a:ext cx="6565392" cy="804672"/>
          </a:xfrm>
          <a:prstGeom prst="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74920" y="3602736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100" b="1" i="0">
                <a:solidFill>
                  <a:srgbClr val="4D6884"/>
                </a:solidFill>
                <a:latin typeface="Songti SC"/>
              </a:defRPr>
            </a:pPr>
            <a:r>
              <a:t>现场实测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3895344"/>
            <a:ext cx="6035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00" b="0" i="0">
                <a:solidFill>
                  <a:srgbClr val="495057"/>
                </a:solidFill>
                <a:latin typeface="Songti SC"/>
              </a:defRPr>
            </a:pPr>
            <a:r>
              <a:t>只能拿到静态最优的约一半（损失降低 6.4%–6.6%）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3602736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00" b="1" i="0">
                <a:solidFill>
                  <a:srgbClr val="8C5D5D"/>
                </a:solidFill>
                <a:latin typeface="Songti SC"/>
              </a:defRPr>
            </a:pPr>
            <a:r>
              <a:t>【外部 · WES 2020/2021】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617720"/>
            <a:ext cx="10725912" cy="868680"/>
          </a:xfrm>
          <a:prstGeom prst="rect">
            <a:avLst/>
          </a:prstGeom>
          <a:solidFill>
            <a:srgbClr val="4D6884"/>
          </a:solidFill>
          <a:ln>
            <a:solidFill>
              <a:srgbClr val="4D6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718304"/>
            <a:ext cx="10241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00" b="1" i="0">
                <a:solidFill>
                  <a:srgbClr val="FFFFFF"/>
                </a:solidFill>
                <a:latin typeface="Songti SC"/>
              </a:defRPr>
            </a:pPr>
            <a:r>
              <a:t>我们的判断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9834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50" b="1" i="0">
                <a:solidFill>
                  <a:srgbClr val="FFFFFF"/>
                </a:solidFill>
                <a:latin typeface="Songti SC"/>
              </a:defRPr>
            </a:pPr>
            <a:r>
              <a:t>不追百分比，先追「链路通、口径清、能复现」——把国际上的方法在这套系统里跑通，比多报一个点更重要。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742432"/>
            <a:ext cx="10725912" cy="420624"/>
          </a:xfrm>
          <a:prstGeom prst="rect">
            <a:avLst/>
          </a:prstGeom>
          <a:solidFill>
            <a:srgbClr val="FFFFFF"/>
          </a:solidFill>
          <a:ln>
            <a:solidFill>
              <a:srgbClr val="B9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8C5D5D"/>
                </a:solidFill>
                <a:latin typeface="Songti SC"/>
              </a:rPr>
              <a:t>口径提醒：48.6% 是本项目三机串列场景的模拟真值，真实风场远低于此。答辩中不得把该值当作实测尾流损失，也不得与外场实测数据并列比较。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84048"/>
            <a:ext cx="10725912" cy="18288"/>
          </a:xfrm>
          <a:prstGeom prst="rect">
            <a:avLst/>
          </a:prstGeom>
          <a:solidFill>
            <a:srgbClr val="2B2F33"/>
          </a:solidFill>
          <a:ln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0" y="457200"/>
            <a:ext cx="14904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95057"/>
                </a:solidFill>
                <a:latin typeface="Arial"/>
              </a:defRPr>
            </a:pPr>
            <a:r>
              <a:t>03 / 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5912" cy="9144"/>
          </a:xfrm>
          <a:prstGeom prst="rect">
            <a:avLst/>
          </a:prstGeom>
          <a:solidFill>
            <a:srgbClr val="DEE2E6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5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95057"/>
                </a:solidFill>
                <a:latin typeface="Arial"/>
              </a:defRPr>
            </a:pPr>
            <a:r>
              <a:t>多机协同智能功率控制与数字孪生演示 · 中期检查 2026-10 | 汇报人：孙承泽 | 指导教师：李良星 副教授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2000" b="1" i="0">
                <a:solidFill>
                  <a:srgbClr val="1D2024"/>
                </a:solidFill>
                <a:latin typeface="Songti SC"/>
              </a:defRPr>
            </a:pPr>
            <a:r>
              <a:t>三线一体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00" b="1" i="0">
                <a:solidFill>
                  <a:srgbClr val="4D6884"/>
                </a:solidFill>
                <a:latin typeface="Songti SC"/>
              </a:defRPr>
            </a:pPr>
            <a:r>
              <a:t>一条数据流串起五个人、四种角色、一套字段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100" b="0" i="1">
                <a:solidFill>
                  <a:srgbClr val="495057"/>
                </a:solidFill>
                <a:latin typeface="Songti SC"/>
              </a:defRPr>
            </a:pPr>
            <a:r>
              <a:t>同一张图上同时画出已通的和没通的，是「系统」与「拼盘」的区别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27632"/>
            <a:ext cx="1874519" cy="1700784"/>
          </a:xfrm>
          <a:prstGeom prst="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27632"/>
            <a:ext cx="50292" cy="1700784"/>
          </a:xfrm>
          <a:prstGeom prst="rect">
            <a:avLst/>
          </a:prstGeom>
          <a:solidFill>
            <a:srgbClr val="516447"/>
          </a:solidFill>
          <a:ln>
            <a:solidFill>
              <a:srgbClr val="516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37360"/>
            <a:ext cx="156362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300" b="1" i="0">
                <a:solidFill>
                  <a:srgbClr val="1D2024"/>
                </a:solidFill>
                <a:latin typeface="Songti SC"/>
              </a:defRPr>
            </a:pPr>
            <a:r>
              <a:t>来流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03120"/>
            <a:ext cx="1563623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300"/>
              </a:spcBef>
              <a:defRPr sz="950" b="0" i="0">
                <a:solidFill>
                  <a:srgbClr val="495057"/>
                </a:solidFill>
                <a:latin typeface="Songti SC"/>
              </a:defRPr>
            </a:pPr>
            <a:r>
              <a:t>Kaimal 谱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defRPr sz="950" b="0" i="0">
                <a:solidFill>
                  <a:srgbClr val="495057"/>
                </a:solidFill>
                <a:latin typeface="Songti SC"/>
              </a:defRPr>
            </a:pPr>
            <a:r>
              <a:t>TI / 风向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34056"/>
            <a:ext cx="156362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00" b="1" i="0">
                <a:solidFill>
                  <a:srgbClr val="516447"/>
                </a:solidFill>
                <a:latin typeface="Songti SC"/>
              </a:defRPr>
            </a:pPr>
            <a:r>
              <a:t>已通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90088"/>
            <a:ext cx="156362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495057"/>
                </a:solidFill>
                <a:latin typeface="Songti SC"/>
              </a:defRPr>
            </a:pPr>
            <a:r>
              <a:t>合成入口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39" y="2468880"/>
            <a:ext cx="384048" cy="10972"/>
          </a:xfrm>
          <a:prstGeom prst="rect">
            <a:avLst/>
          </a:prstGeom>
          <a:solidFill>
            <a:srgbClr val="2B2F33"/>
          </a:solidFill>
          <a:ln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90087" y="1627632"/>
            <a:ext cx="1874519" cy="1700784"/>
          </a:xfrm>
          <a:prstGeom prst="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90087" y="1627632"/>
            <a:ext cx="50292" cy="1700784"/>
          </a:xfrm>
          <a:prstGeom prst="rect">
            <a:avLst/>
          </a:prstGeom>
          <a:solidFill>
            <a:srgbClr val="8C5D5D"/>
          </a:solidFill>
          <a:ln>
            <a:solidFill>
              <a:srgbClr val="8C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72968" y="1737360"/>
            <a:ext cx="156362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300" b="1" i="0">
                <a:solidFill>
                  <a:srgbClr val="1D2024"/>
                </a:solidFill>
                <a:latin typeface="Songti SC"/>
              </a:defRPr>
            </a:pPr>
            <a:r>
              <a:t>代理模型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72968" y="2103120"/>
            <a:ext cx="1563623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300"/>
              </a:spcBef>
              <a:defRPr sz="950" b="0" i="0">
                <a:solidFill>
                  <a:srgbClr val="495057"/>
                </a:solidFill>
                <a:latin typeface="Songti SC"/>
              </a:defRPr>
            </a:pPr>
            <a:r>
              <a:t>12 输入 / 6 输出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defRPr sz="950" b="0" i="0">
                <a:solidFill>
                  <a:srgbClr val="495057"/>
                </a:solidFill>
                <a:latin typeface="Songti SC"/>
              </a:defRPr>
            </a:pPr>
            <a:r>
              <a:t>PINN（冻结主干）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72968" y="2734056"/>
            <a:ext cx="156362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00" b="1" i="0">
                <a:solidFill>
                  <a:srgbClr val="8C5D5D"/>
                </a:solidFill>
                <a:latin typeface="Songti SC"/>
              </a:defRPr>
            </a:pPr>
            <a:r>
              <a:t>部分通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72968" y="2990088"/>
            <a:ext cx="156362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495057"/>
                </a:solidFill>
                <a:latin typeface="Songti SC"/>
              </a:defRPr>
            </a:pPr>
            <a:r>
              <a:t>合成标签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64607" y="2468880"/>
            <a:ext cx="384048" cy="10972"/>
          </a:xfrm>
          <a:prstGeom prst="rect">
            <a:avLst/>
          </a:prstGeom>
          <a:solidFill>
            <a:srgbClr val="2B2F33"/>
          </a:solidFill>
          <a:ln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48655" y="1627632"/>
            <a:ext cx="1874519" cy="1700784"/>
          </a:xfrm>
          <a:prstGeom prst="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48655" y="1627632"/>
            <a:ext cx="50292" cy="1700784"/>
          </a:xfrm>
          <a:prstGeom prst="rect">
            <a:avLst/>
          </a:prstGeom>
          <a:solidFill>
            <a:srgbClr val="8C5D5D"/>
          </a:solidFill>
          <a:ln>
            <a:solidFill>
              <a:srgbClr val="8C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31536" y="1737360"/>
            <a:ext cx="156362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300" b="1" i="0">
                <a:solidFill>
                  <a:srgbClr val="1D2024"/>
                </a:solidFill>
                <a:latin typeface="Songti SC"/>
              </a:defRPr>
            </a:pPr>
            <a:r>
              <a:t>协同控制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31536" y="2103120"/>
            <a:ext cx="1563623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300"/>
              </a:spcBef>
              <a:defRPr sz="950" b="0" i="0">
                <a:solidFill>
                  <a:srgbClr val="495057"/>
                </a:solidFill>
                <a:latin typeface="Songti SC"/>
              </a:defRPr>
            </a:pPr>
            <a:r>
              <a:t>MADDPG / P / PI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defRPr sz="950" b="0" i="0">
                <a:solidFill>
                  <a:srgbClr val="495057"/>
                </a:solidFill>
                <a:latin typeface="Songti SC"/>
              </a:defRPr>
            </a:pPr>
            <a:r>
              <a:t>同权对照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31536" y="2734056"/>
            <a:ext cx="156362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00" b="1" i="0">
                <a:solidFill>
                  <a:srgbClr val="8C5D5D"/>
                </a:solidFill>
                <a:latin typeface="Songti SC"/>
              </a:defRPr>
            </a:pPr>
            <a:r>
              <a:t>部分通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31536" y="2990088"/>
            <a:ext cx="156362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495057"/>
                </a:solidFill>
                <a:latin typeface="Songti SC"/>
              </a:defRPr>
            </a:pPr>
            <a:r>
              <a:t>仅桨距通道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23175" y="2468880"/>
            <a:ext cx="384048" cy="10972"/>
          </a:xfrm>
          <a:prstGeom prst="rect">
            <a:avLst/>
          </a:prstGeom>
          <a:solidFill>
            <a:srgbClr val="2B2F33"/>
          </a:solidFill>
          <a:ln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507223" y="1627632"/>
            <a:ext cx="1874519" cy="1700784"/>
          </a:xfrm>
          <a:prstGeom prst="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07223" y="1627632"/>
            <a:ext cx="50292" cy="1700784"/>
          </a:xfrm>
          <a:prstGeom prst="rect">
            <a:avLst/>
          </a:prstGeom>
          <a:solidFill>
            <a:srgbClr val="516447"/>
          </a:solidFill>
          <a:ln>
            <a:solidFill>
              <a:srgbClr val="516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90103" y="1737360"/>
            <a:ext cx="156362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300" b="1" i="0">
                <a:solidFill>
                  <a:srgbClr val="1D2024"/>
                </a:solidFill>
                <a:latin typeface="Songti SC"/>
              </a:defRPr>
            </a:pPr>
            <a:r>
              <a:t>统一执行器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90103" y="2103120"/>
            <a:ext cx="1563623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300"/>
              </a:spcBef>
              <a:defRPr sz="950" b="0" i="0">
                <a:solidFill>
                  <a:srgbClr val="495057"/>
                </a:solidFill>
                <a:latin typeface="Songti SC"/>
              </a:defRPr>
            </a:pPr>
            <a:r>
              <a:t>偏航 / 桨距 / 转速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defRPr sz="950" b="0" i="0">
                <a:solidFill>
                  <a:srgbClr val="495057"/>
                </a:solidFill>
                <a:latin typeface="Songti SC"/>
              </a:defRPr>
            </a:pPr>
            <a:r>
              <a:t>速率与量程约束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90103" y="2734056"/>
            <a:ext cx="156362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00" b="1" i="0">
                <a:solidFill>
                  <a:srgbClr val="516447"/>
                </a:solidFill>
                <a:latin typeface="Songti SC"/>
              </a:defRPr>
            </a:pPr>
            <a:r>
              <a:t>已通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90103" y="2990088"/>
            <a:ext cx="156362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495057"/>
                </a:solidFill>
                <a:latin typeface="Songti SC"/>
              </a:defRPr>
            </a:pPr>
            <a:r>
              <a:t>统一施加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81743" y="2468880"/>
            <a:ext cx="384048" cy="10972"/>
          </a:xfrm>
          <a:prstGeom prst="rect">
            <a:avLst/>
          </a:prstGeom>
          <a:solidFill>
            <a:srgbClr val="2B2F33"/>
          </a:solidFill>
          <a:ln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765792" y="1627632"/>
            <a:ext cx="1874519" cy="1700784"/>
          </a:xfrm>
          <a:prstGeom prst="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765792" y="1627632"/>
            <a:ext cx="50292" cy="1700784"/>
          </a:xfrm>
          <a:prstGeom prst="rect">
            <a:avLst/>
          </a:prstGeom>
          <a:solidFill>
            <a:srgbClr val="516447"/>
          </a:solidFill>
          <a:ln>
            <a:solidFill>
              <a:srgbClr val="516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48672" y="1737360"/>
            <a:ext cx="156362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300" b="1" i="0">
                <a:solidFill>
                  <a:srgbClr val="1D2024"/>
                </a:solidFill>
                <a:latin typeface="Songti SC"/>
              </a:defRPr>
            </a:pPr>
            <a:r>
              <a:t>数字孪生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48672" y="2103120"/>
            <a:ext cx="1563623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300"/>
              </a:spcBef>
              <a:defRPr sz="950" b="0" i="0">
                <a:solidFill>
                  <a:srgbClr val="495057"/>
                </a:solidFill>
                <a:latin typeface="Songti SC"/>
              </a:defRPr>
            </a:pPr>
            <a:r>
              <a:t>twin 1×3 实时渲染</a:t>
            </a:r>
          </a:p>
          <a:p>
            <a:pPr algn="l">
              <a:lnSpc>
                <a:spcPct val="130000"/>
              </a:lnSpc>
              <a:spcBef>
                <a:spcPts val="300"/>
              </a:spcBef>
              <a:defRPr sz="950" b="0" i="0">
                <a:solidFill>
                  <a:srgbClr val="495057"/>
                </a:solidFill>
                <a:latin typeface="Songti SC"/>
              </a:defRPr>
            </a:pPr>
            <a:r>
              <a:t>七步演示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48672" y="2734056"/>
            <a:ext cx="156362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00" b="1" i="0">
                <a:solidFill>
                  <a:srgbClr val="516447"/>
                </a:solidFill>
                <a:latin typeface="Songti SC"/>
              </a:defRPr>
            </a:pPr>
            <a:r>
              <a:t>已通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48672" y="2990088"/>
            <a:ext cx="156362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495057"/>
                </a:solidFill>
                <a:latin typeface="Songti SC"/>
              </a:defRPr>
            </a:pPr>
            <a:r>
              <a:t>FLORIS 真值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356616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50" b="0" i="0">
                <a:solidFill>
                  <a:srgbClr val="4D6884"/>
                </a:solidFill>
                <a:latin typeface="Songti SC"/>
              </a:defRPr>
            </a:pPr>
            <a:r>
              <a:t>↓ 评价与复现层：统一场景库 · 冻结独立测试 · metrics / trajectory / validation.json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4069080"/>
            <a:ext cx="342900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4160520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100" b="1" i="0">
                <a:solidFill>
                  <a:srgbClr val="4D6884"/>
                </a:solidFill>
                <a:latin typeface="Songti SC"/>
              </a:defRPr>
            </a:pPr>
            <a:r>
              <a:t>一套字段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448056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495057"/>
                </a:solidFill>
                <a:latin typeface="Songti SC"/>
              </a:defRPr>
            </a:pPr>
            <a:r>
              <a:t>十二维输入、六维输出两侧共同冻结，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495057"/>
                </a:solidFill>
                <a:latin typeface="Songti SC"/>
              </a:defRPr>
            </a:pPr>
            <a:r>
              <a:t>字段与单位写进接口文档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43400" y="4069080"/>
            <a:ext cx="342900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26280" y="4160520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100" b="1" i="0">
                <a:solidFill>
                  <a:srgbClr val="4D6884"/>
                </a:solidFill>
                <a:latin typeface="Songti SC"/>
              </a:defRPr>
            </a:pPr>
            <a:r>
              <a:t>一套场景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26280" y="448056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495057"/>
                </a:solidFill>
                <a:latin typeface="Songti SC"/>
              </a:defRPr>
            </a:pPr>
            <a:r>
              <a:t>同一随机入口、同一执行器、同一评价口径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495057"/>
                </a:solidFill>
                <a:latin typeface="Songti SC"/>
              </a:defRPr>
            </a:pPr>
            <a:r>
              <a:t>P / PI / MADDPG 完全同权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55280" y="4069080"/>
            <a:ext cx="342900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38160" y="4160520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100" b="1" i="0">
                <a:solidFill>
                  <a:srgbClr val="4D6884"/>
                </a:solidFill>
                <a:latin typeface="Songti SC"/>
              </a:defRPr>
            </a:pPr>
            <a:r>
              <a:t>一套证据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38160" y="448056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495057"/>
                </a:solidFill>
                <a:latin typeface="Songti SC"/>
              </a:defRPr>
            </a:pPr>
            <a:r>
              <a:t>轨迹、指标、校验和三件套同时落盘，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495057"/>
                </a:solidFill>
                <a:latin typeface="Songti SC"/>
              </a:defRPr>
            </a:pPr>
            <a:r>
              <a:t>任何一个数字都能当场复算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5413248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495057"/>
                </a:solidFill>
                <a:latin typeface="Songti SC"/>
              </a:defRPr>
            </a:pPr>
            <a:r>
              <a:t>分工：厉今飞（模型与接口）· 洪祖名（控制与对照）· 田铭雨（仿真）· 袁夫达（建模口径）· 孙承泽（集成与复现）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" y="5742432"/>
            <a:ext cx="10725912" cy="420624"/>
          </a:xfrm>
          <a:prstGeom prst="rect">
            <a:avLst/>
          </a:prstGeom>
          <a:solidFill>
            <a:srgbClr val="FFFFFF"/>
          </a:solidFill>
          <a:ln>
            <a:solidFill>
              <a:srgbClr val="B9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8C5D5D"/>
                </a:solidFill>
                <a:latin typeface="Songti SC"/>
              </a:rPr>
              <a:t>两处褐色是本轮的真实短板：代理模型仍以合成标签训练，协同控制只开放了桨距通道。我们不把褐色画成绿色。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84048"/>
            <a:ext cx="10725912" cy="18288"/>
          </a:xfrm>
          <a:prstGeom prst="rect">
            <a:avLst/>
          </a:prstGeom>
          <a:solidFill>
            <a:srgbClr val="2B2F33"/>
          </a:solidFill>
          <a:ln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0" y="457200"/>
            <a:ext cx="14904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95057"/>
                </a:solidFill>
                <a:latin typeface="Arial"/>
              </a:defRPr>
            </a:pPr>
            <a:r>
              <a:t>04 / 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5912" cy="9144"/>
          </a:xfrm>
          <a:prstGeom prst="rect">
            <a:avLst/>
          </a:prstGeom>
          <a:solidFill>
            <a:srgbClr val="DEE2E6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5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95057"/>
                </a:solidFill>
                <a:latin typeface="Arial"/>
              </a:defRPr>
            </a:pPr>
            <a:r>
              <a:t>多机协同智能功率控制与数字孪生演示 · 中期检查 2026-10 | 汇报人：孙承泽 | 指导教师：李良星 副教授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2000" b="1" i="0">
                <a:solidFill>
                  <a:srgbClr val="1D2024"/>
                </a:solidFill>
                <a:latin typeface="Songti SC"/>
              </a:defRPr>
            </a:pPr>
            <a:r>
              <a:t>现场演示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00" b="1" i="0">
                <a:solidFill>
                  <a:srgbClr val="4D6884"/>
                </a:solidFill>
                <a:latin typeface="Songti SC"/>
              </a:defRPr>
            </a:pPr>
            <a:r>
              <a:t>三机数字孪生 · 七步优化闭环（现场运行，不放视频）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100" b="0" i="1">
                <a:solidFill>
                  <a:srgbClr val="495057"/>
                </a:solidFill>
                <a:latin typeface="Songti SC"/>
              </a:defRPr>
            </a:pPr>
            <a:r>
              <a:t>选工况 → 看基准 → 调航向 → 求解优化 → 复核 → 可靠性 → 导出</a:t>
            </a:r>
          </a:p>
        </p:txBody>
      </p:sp>
      <p:pic>
        <p:nvPicPr>
          <p:cNvPr id="9" name="Picture 8" descr="r44_demo_ste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6675120" cy="375475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635240" y="1691640"/>
            <a:ext cx="3822191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783080"/>
            <a:ext cx="3383280" cy="355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defRPr sz="2200" b="1" i="0">
                <a:solidFill>
                  <a:srgbClr val="516447"/>
                </a:solidFill>
                <a:latin typeface="Arial"/>
              </a:defRPr>
            </a:pPr>
            <a:r>
              <a:t>2702.2 → 3299.8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1747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200"/>
              </a:spcBef>
              <a:defRPr sz="1050" b="0" i="0">
                <a:solidFill>
                  <a:srgbClr val="495057"/>
                </a:solidFill>
                <a:latin typeface="Songti SC"/>
              </a:defRPr>
            </a:pPr>
            <a:r>
              <a:t>kW · 逐机贪心 [30°, 25°, 0°]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7889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8C5D5D"/>
                </a:solidFill>
                <a:latin typeface="Songti SC"/>
              </a:defRPr>
            </a:pPr>
            <a:r>
              <a:t>【真值 = FLORIS 4.6.6 · tandem3 oracle】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3291840"/>
            <a:ext cx="3840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050" b="1">
                <a:solidFill>
                  <a:srgbClr val="1D2024"/>
                </a:solidFill>
                <a:latin typeface="Songti SC"/>
              </a:rPr>
              <a:t>全场增益</a:t>
            </a:r>
            <a:r>
              <a:rPr sz="1050">
                <a:solidFill>
                  <a:srgbClr val="DEE2E6"/>
                </a:solidFill>
                <a:latin typeface="Songti SC"/>
              </a:rPr>
              <a:t>｜</a:t>
            </a:r>
            <a:r>
              <a:rPr sz="1050">
                <a:solidFill>
                  <a:srgbClr val="495057"/>
                </a:solidFill>
                <a:latin typeface="Songti SC"/>
              </a:rPr>
              <a:t>+22.11%，来自三机串列 oracle，不是 CFD</a:t>
            </a:r>
          </a:p>
          <a:p>
            <a:pPr>
              <a:spcBef>
                <a:spcPts val="900"/>
              </a:spcBef>
            </a:pPr>
            <a:r>
              <a:rPr sz="1050" b="1">
                <a:solidFill>
                  <a:srgbClr val="1D2024"/>
                </a:solidFill>
                <a:latin typeface="Songti SC"/>
              </a:rPr>
              <a:t>逐式对拍</a:t>
            </a:r>
            <a:r>
              <a:rPr sz="1050">
                <a:solidFill>
                  <a:srgbClr val="DEE2E6"/>
                </a:solidFill>
                <a:latin typeface="Songti SC"/>
              </a:rPr>
              <a:t>｜</a:t>
            </a:r>
            <a:r>
              <a:rPr sz="1050">
                <a:solidFill>
                  <a:srgbClr val="495057"/>
                </a:solidFill>
                <a:latin typeface="Songti SC"/>
              </a:rPr>
              <a:t>浏览器内核与 FLORIS 参考值差 1.25×10⁻¹² kW</a:t>
            </a:r>
          </a:p>
          <a:p>
            <a:pPr>
              <a:spcBef>
                <a:spcPts val="900"/>
              </a:spcBef>
            </a:pPr>
            <a:r>
              <a:rPr sz="1050" b="1">
                <a:solidFill>
                  <a:srgbClr val="1D2024"/>
                </a:solidFill>
                <a:latin typeface="Songti SC"/>
              </a:rPr>
              <a:t>兜底方案</a:t>
            </a:r>
            <a:r>
              <a:rPr sz="1050">
                <a:solidFill>
                  <a:srgbClr val="DEE2E6"/>
                </a:solidFill>
                <a:latin typeface="Songti SC"/>
              </a:rPr>
              <a:t>｜</a:t>
            </a:r>
            <a:r>
              <a:rPr sz="1050">
                <a:solidFill>
                  <a:srgbClr val="495057"/>
                </a:solidFill>
                <a:latin typeface="Songti SC"/>
              </a:rPr>
              <a:t>断网或卡顿切七步截图，话术不变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742432"/>
            <a:ext cx="10725912" cy="420624"/>
          </a:xfrm>
          <a:prstGeom prst="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495057"/>
                </a:solidFill>
                <a:latin typeface="Songti SC"/>
              </a:rPr>
              <a:t>口径：+22.11% 属 1×3 串列 FLORIS 真值，不得挪用到 3×3 场景（24.04%）或 PINN / 优化模块。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84048"/>
            <a:ext cx="10725912" cy="18288"/>
          </a:xfrm>
          <a:prstGeom prst="rect">
            <a:avLst/>
          </a:prstGeom>
          <a:solidFill>
            <a:srgbClr val="2B2F33"/>
          </a:solidFill>
          <a:ln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0" y="457200"/>
            <a:ext cx="14904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95057"/>
                </a:solidFill>
                <a:latin typeface="Arial"/>
              </a:defRPr>
            </a:pPr>
            <a:r>
              <a:t>05 / 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5912" cy="9144"/>
          </a:xfrm>
          <a:prstGeom prst="rect">
            <a:avLst/>
          </a:prstGeom>
          <a:solidFill>
            <a:srgbClr val="DEE2E6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5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95057"/>
                </a:solidFill>
                <a:latin typeface="Arial"/>
              </a:defRPr>
            </a:pPr>
            <a:r>
              <a:t>多机协同智能功率控制与数字孪生演示 · 中期检查 2026-10 | 汇报人：孙承泽 | 指导教师：李良星 副教授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2000" b="1" i="0">
                <a:solidFill>
                  <a:srgbClr val="1D2024"/>
                </a:solidFill>
                <a:latin typeface="Songti SC"/>
              </a:defRPr>
            </a:pPr>
            <a:r>
              <a:t>十二输入 PINN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00" b="1" i="0">
                <a:solidFill>
                  <a:srgbClr val="4D6884"/>
                </a:solidFill>
                <a:latin typeface="Songti SC"/>
              </a:defRPr>
            </a:pPr>
            <a:r>
              <a:t>把队友的模型接进来：只训新增的 0.79% 参数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100" b="0" i="1">
                <a:solidFill>
                  <a:srgbClr val="495057"/>
                </a:solidFill>
                <a:latin typeface="Songti SC"/>
              </a:defRPr>
            </a:pPr>
            <a:r>
              <a:t>冻结主干 → 只训新增输入连接与输出层 → 合成样本短训练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691640"/>
          <a:ext cx="58521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01168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D2024"/>
                          </a:solidFill>
                          <a:latin typeface="Songti SC"/>
                        </a:rPr>
                        <a:t>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D2024"/>
                          </a:solidFill>
                          <a:latin typeface="Songti SC"/>
                        </a:rPr>
                        <a:t>参数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D2024"/>
                          </a:solidFill>
                          <a:latin typeface="Songti SC"/>
                        </a:rPr>
                        <a:t>状态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2024"/>
                          </a:solidFill>
                          <a:latin typeface="Songti SC"/>
                        </a:rPr>
                        <a:t>原模型总量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2024"/>
                          </a:solidFill>
                          <a:latin typeface="Songti SC"/>
                        </a:rPr>
                        <a:t>3,090,200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2024"/>
                          </a:solidFill>
                          <a:latin typeface="Songti SC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2024"/>
                          </a:solidFill>
                          <a:latin typeface="Songti SC"/>
                        </a:rPr>
                        <a:t>保留的隐藏层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2024"/>
                          </a:solidFill>
                          <a:latin typeface="Songti SC"/>
                        </a:rPr>
                        <a:t>3,087,200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2024"/>
                          </a:solidFill>
                          <a:latin typeface="Songti SC"/>
                        </a:rPr>
                        <a:t>冻结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2024"/>
                          </a:solidFill>
                          <a:latin typeface="Songti SC"/>
                        </a:rPr>
                        <a:t>新增控制输入连接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2024"/>
                          </a:solidFill>
                          <a:latin typeface="Songti SC"/>
                        </a:rPr>
                        <a:t>6,300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2024"/>
                          </a:solidFill>
                          <a:latin typeface="Songti SC"/>
                        </a:rPr>
                        <a:t>可训练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2024"/>
                          </a:solidFill>
                          <a:latin typeface="Songti SC"/>
                        </a:rPr>
                        <a:t>新六输出层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2024"/>
                          </a:solidFill>
                          <a:latin typeface="Songti SC"/>
                        </a:rPr>
                        <a:t>18,006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D2024"/>
                          </a:solidFill>
                          <a:latin typeface="Songti SC"/>
                        </a:rPr>
                        <a:t>可训练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516447"/>
                          </a:solidFill>
                          <a:latin typeface="Songti SC"/>
                        </a:rPr>
                        <a:t>合计可训练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516447"/>
                          </a:solidFill>
                          <a:latin typeface="Songti SC"/>
                        </a:rPr>
                        <a:t>24,306（≈0.79%）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516447"/>
                          </a:solidFill>
                          <a:latin typeface="Songti SC"/>
                        </a:rPr>
                        <a:t>本轮训练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858000" y="1691640"/>
            <a:ext cx="4599432" cy="2880360"/>
          </a:xfrm>
          <a:prstGeom prst="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0" y="1783080"/>
            <a:ext cx="425196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050" b="1">
                <a:solidFill>
                  <a:srgbClr val="1D2024"/>
                </a:solidFill>
                <a:latin typeface="Songti SC"/>
              </a:rPr>
              <a:t>输入 12 维</a:t>
            </a:r>
            <a:r>
              <a:rPr sz="1050">
                <a:solidFill>
                  <a:srgbClr val="DEE2E6"/>
                </a:solidFill>
                <a:latin typeface="Songti SC"/>
              </a:rPr>
              <a:t>｜</a:t>
            </a:r>
            <a:r>
              <a:rPr sz="1050">
                <a:solidFill>
                  <a:srgbClr val="495057"/>
                </a:solidFill>
                <a:latin typeface="Songti SC"/>
              </a:rPr>
              <a:t>风速 / 风向 / TI + 三机 × 偏航失配角·桨距角·转速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1D2024"/>
                </a:solidFill>
                <a:latin typeface="Songti SC"/>
              </a:rPr>
              <a:t>输出 6 维</a:t>
            </a:r>
            <a:r>
              <a:rPr sz="1050">
                <a:solidFill>
                  <a:srgbClr val="DEE2E6"/>
                </a:solidFill>
                <a:latin typeface="Songti SC"/>
              </a:rPr>
              <a:t>｜</a:t>
            </a:r>
            <a:r>
              <a:rPr sz="1050">
                <a:solidFill>
                  <a:srgbClr val="495057"/>
                </a:solidFill>
                <a:latin typeface="Songti SC"/>
              </a:rPr>
              <a:t>三机功率 + 三机有效风速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1D2024"/>
                </a:solidFill>
                <a:latin typeface="Songti SC"/>
              </a:rPr>
              <a:t>低 / 中目标</a:t>
            </a:r>
            <a:r>
              <a:rPr sz="1050">
                <a:solidFill>
                  <a:srgbClr val="DEE2E6"/>
                </a:solidFill>
                <a:latin typeface="Songti SC"/>
              </a:rPr>
              <a:t>｜</a:t>
            </a:r>
            <a:r>
              <a:rPr sz="1050">
                <a:solidFill>
                  <a:srgbClr val="495057"/>
                </a:solidFill>
                <a:latin typeface="Songti SC"/>
              </a:rPr>
              <a:t>验证误差 18.14 / 1.69 kW　【代理 · 合成标签】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1D2024"/>
                </a:solidFill>
                <a:latin typeface="Songti SC"/>
              </a:rPr>
              <a:t>高目标</a:t>
            </a:r>
            <a:r>
              <a:rPr sz="1050">
                <a:solidFill>
                  <a:srgbClr val="DEE2E6"/>
                </a:solidFill>
                <a:latin typeface="Songti SC"/>
              </a:rPr>
              <a:t>｜</a:t>
            </a:r>
            <a:r>
              <a:rPr sz="1050">
                <a:solidFill>
                  <a:srgbClr val="495057"/>
                </a:solidFill>
                <a:latin typeface="Songti SC"/>
              </a:rPr>
              <a:t>最终/选中误差比 2.306，按冻结门槛停止晋级</a:t>
            </a:r>
          </a:p>
          <a:p>
            <a:pPr>
              <a:spcBef>
                <a:spcPts val="1000"/>
              </a:spcBef>
            </a:pPr>
            <a:r>
              <a:rPr sz="1050" b="1">
                <a:solidFill>
                  <a:srgbClr val="1D2024"/>
                </a:solidFill>
                <a:latin typeface="Songti SC"/>
              </a:rPr>
              <a:t>可迁移</a:t>
            </a:r>
            <a:r>
              <a:rPr sz="1050">
                <a:solidFill>
                  <a:srgbClr val="DEE2E6"/>
                </a:solidFill>
                <a:latin typeface="Songti SC"/>
              </a:rPr>
              <a:t>｜</a:t>
            </a:r>
            <a:r>
              <a:rPr sz="1050">
                <a:solidFill>
                  <a:srgbClr val="495057"/>
                </a:solidFill>
                <a:latin typeface="Songti SC"/>
              </a:rPr>
              <a:t>换成别的队友模型同样适用：冻结主干 + 新增输入连接 + 新输出头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754880"/>
            <a:ext cx="10725912" cy="9144"/>
          </a:xfrm>
          <a:prstGeom prst="rect">
            <a:avLst/>
          </a:prstGeom>
          <a:solidFill>
            <a:srgbClr val="DEE2E6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463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50" b="1" i="0">
                <a:solidFill>
                  <a:srgbClr val="1D2024"/>
                </a:solidFill>
                <a:latin typeface="Songti SC"/>
              </a:defRPr>
            </a:pPr>
            <a:r>
              <a:t>改动面：99.21% 参数冻结，只训 24,306 个（≈0.79%）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230368"/>
            <a:ext cx="10725912" cy="310896"/>
          </a:xfrm>
          <a:prstGeom prst="rect">
            <a:avLst/>
          </a:prstGeom>
          <a:solidFill>
            <a:srgbClr val="DEE2E6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561320" y="5230368"/>
            <a:ext cx="896112" cy="310896"/>
          </a:xfrm>
          <a:prstGeom prst="rect">
            <a:avLst/>
          </a:prstGeom>
          <a:solidFill>
            <a:srgbClr val="8C5D5D"/>
          </a:solidFill>
          <a:ln>
            <a:solidFill>
              <a:srgbClr val="8C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26694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495057"/>
                </a:solidFill>
                <a:latin typeface="Songti SC"/>
              </a:defRPr>
            </a:pPr>
            <a:r>
              <a:t>冻结主干　3,087,200 参数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4937760"/>
            <a:ext cx="2514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1" i="0">
                <a:solidFill>
                  <a:srgbClr val="8C5D5D"/>
                </a:solidFill>
                <a:latin typeface="Songti SC"/>
              </a:defRPr>
            </a:pPr>
            <a:r>
              <a:t>可训练 24,306（示意放大）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742432"/>
            <a:ext cx="10725912" cy="420624"/>
          </a:xfrm>
          <a:prstGeom prst="rect">
            <a:avLst/>
          </a:prstGeom>
          <a:solidFill>
            <a:srgbClr val="FFFFFF"/>
          </a:solidFill>
          <a:ln>
            <a:solidFill>
              <a:srgbClr val="B9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8C5D5D"/>
                </a:solidFill>
                <a:latin typeface="Songti SC"/>
              </a:rPr>
              <a:t>边界：训练标签为合成样本，不是 CFD 或实测；「接口已通 + 结构正确」不等于「物理精度已验证」。高目标停在前，是协议要求，不是调参失败。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84048"/>
            <a:ext cx="10725912" cy="18288"/>
          </a:xfrm>
          <a:prstGeom prst="rect">
            <a:avLst/>
          </a:prstGeom>
          <a:solidFill>
            <a:srgbClr val="2B2F33"/>
          </a:solidFill>
          <a:ln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0" y="457200"/>
            <a:ext cx="14904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95057"/>
                </a:solidFill>
                <a:latin typeface="Arial"/>
              </a:defRPr>
            </a:pPr>
            <a:r>
              <a:t>06 / 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5912" cy="9144"/>
          </a:xfrm>
          <a:prstGeom prst="rect">
            <a:avLst/>
          </a:prstGeom>
          <a:solidFill>
            <a:srgbClr val="DEE2E6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5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95057"/>
                </a:solidFill>
                <a:latin typeface="Arial"/>
              </a:defRPr>
            </a:pPr>
            <a:r>
              <a:t>多机协同智能功率控制与数字孪生演示 · 中期检查 2026-10 | 汇报人：孙承泽 | 指导教师：李良星 副教授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2000" b="1" i="0">
                <a:solidFill>
                  <a:srgbClr val="1D2024"/>
                </a:solidFill>
                <a:latin typeface="Songti SC"/>
              </a:defRPr>
            </a:pPr>
            <a:r>
              <a:t>公平对比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00" b="1" i="0">
                <a:solidFill>
                  <a:srgbClr val="4D6884"/>
                </a:solidFill>
                <a:latin typeface="Songti SC"/>
              </a:defRPr>
            </a:pPr>
            <a:r>
              <a:t>随机入口 + 统一执行器：把「同权」做成代码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100" b="0" i="1">
                <a:solidFill>
                  <a:srgbClr val="495057"/>
                </a:solidFill>
                <a:latin typeface="Songti SC"/>
              </a:defRPr>
            </a:pPr>
            <a:r>
              <a:t>P / PI / MADDPG 使用同一套场景、同一套执行器、同一套评价口径</a:t>
            </a:r>
          </a:p>
        </p:txBody>
      </p:sp>
      <p:pic>
        <p:nvPicPr>
          <p:cNvPr id="9" name="Picture 8" descr="02_random_in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27632"/>
            <a:ext cx="4297680" cy="2762794"/>
          </a:xfrm>
          <a:prstGeom prst="rect">
            <a:avLst/>
          </a:prstGeom>
        </p:spPr>
      </p:pic>
      <p:pic>
        <p:nvPicPr>
          <p:cNvPr id="10" name="Picture 9" descr="07_actuator_rep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27632"/>
            <a:ext cx="4297680" cy="276279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44805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495057"/>
                </a:solidFill>
                <a:latin typeface="Songti SC"/>
              </a:defRPr>
            </a:pPr>
            <a:r>
              <a:t>图02 · 三类入口：平稳湍流 / 慢变 / 阵风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44805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495057"/>
                </a:solidFill>
                <a:latin typeface="Songti SC"/>
              </a:defRPr>
            </a:pPr>
            <a:r>
              <a:t>图07 · 统一执行器的实际运行点（同一阵风场 T1）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9204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 b="1">
                <a:solidFill>
                  <a:srgbClr val="1D2024"/>
                </a:solidFill>
                <a:latin typeface="Songti SC"/>
              </a:rPr>
              <a:t>为什么要抽执行器</a:t>
            </a:r>
            <a:r>
              <a:rPr sz="1100">
                <a:solidFill>
                  <a:srgbClr val="DEE2E6"/>
                </a:solidFill>
                <a:latin typeface="Songti SC"/>
              </a:rPr>
              <a:t>｜</a:t>
            </a:r>
            <a:r>
              <a:rPr sz="1100">
                <a:solidFill>
                  <a:srgbClr val="495057"/>
                </a:solidFill>
                <a:latin typeface="Songti SC"/>
              </a:rPr>
              <a:t>算法只给目标值，速率 / 时间常数 / 量程由执行器施加——避免「学的方法能瞬移、传统方法被限速」的伪对比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742432"/>
            <a:ext cx="10725912" cy="420624"/>
          </a:xfrm>
          <a:prstGeom prst="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495057"/>
                </a:solidFill>
                <a:latin typeface="Songti SC"/>
              </a:rPr>
              <a:t>边界：Kaimal 单点入口不含完整空间相干结构；执行器参数为联调假设，非实际机型标定值。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84048"/>
            <a:ext cx="10725912" cy="18288"/>
          </a:xfrm>
          <a:prstGeom prst="rect">
            <a:avLst/>
          </a:prstGeom>
          <a:solidFill>
            <a:srgbClr val="2B2F33"/>
          </a:solidFill>
          <a:ln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0" y="457200"/>
            <a:ext cx="14904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95057"/>
                </a:solidFill>
                <a:latin typeface="Arial"/>
              </a:defRPr>
            </a:pPr>
            <a:r>
              <a:t>07 / 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5912" cy="9144"/>
          </a:xfrm>
          <a:prstGeom prst="rect">
            <a:avLst/>
          </a:prstGeom>
          <a:solidFill>
            <a:srgbClr val="DEE2E6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5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95057"/>
                </a:solidFill>
                <a:latin typeface="Arial"/>
              </a:defRPr>
            </a:pPr>
            <a:r>
              <a:t>多机协同智能功率控制与数字孪生演示 · 中期检查 2026-10 | 汇报人：孙承泽 | 指导教师：李良星 副教授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2000" b="1" i="0">
                <a:solidFill>
                  <a:srgbClr val="1D2024"/>
                </a:solidFill>
                <a:latin typeface="Songti SC"/>
              </a:defRPr>
            </a:pPr>
            <a:r>
              <a:t>结果一 · 学习有效性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00" b="1" i="0">
                <a:solidFill>
                  <a:srgbClr val="4D6884"/>
                </a:solidFill>
                <a:latin typeface="Songti SC"/>
              </a:defRPr>
            </a:pPr>
            <a:r>
              <a:t>三条独立训练流，误差确实在降，但都没过门槛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100" b="0" i="1">
                <a:solidFill>
                  <a:srgbClr val="495057"/>
                </a:solidFill>
                <a:latin typeface="Songti SC"/>
              </a:defRPr>
            </a:pPr>
            <a:r>
              <a:t>主种子 42 派生三条流，各 16,384 步，共 49,152 步</a:t>
            </a:r>
          </a:p>
        </p:txBody>
      </p:sp>
      <p:pic>
        <p:nvPicPr>
          <p:cNvPr id="9" name="Picture 8" descr="03_validation_le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766560" cy="380509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726679" y="1691640"/>
            <a:ext cx="370332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181051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00" b="1" i="0">
                <a:solidFill>
                  <a:srgbClr val="1D2024"/>
                </a:solidFill>
                <a:latin typeface="Songti SC"/>
              </a:defRPr>
            </a:pPr>
            <a:r>
              <a:t>平均验证误差 / kW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14884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495057"/>
                </a:solidFill>
                <a:latin typeface="Songti SC"/>
              </a:defRPr>
            </a:pPr>
            <a:r>
              <a:t>流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103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400" b="1" i="0">
                <a:solidFill>
                  <a:srgbClr val="4D6884"/>
                </a:solidFill>
                <a:latin typeface="Arial"/>
              </a:defRPr>
            </a:pPr>
            <a:r>
              <a:t>471.79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60604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495057"/>
                </a:solidFill>
                <a:latin typeface="Songti SC"/>
              </a:defRPr>
            </a:pPr>
            <a:r>
              <a:t>流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2560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400" b="1" i="0">
                <a:solidFill>
                  <a:srgbClr val="4D6884"/>
                </a:solidFill>
                <a:latin typeface="Arial"/>
              </a:defRPr>
            </a:pPr>
            <a:r>
              <a:t>444.14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306324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495057"/>
                </a:solidFill>
                <a:latin typeface="Songti SC"/>
              </a:defRPr>
            </a:pPr>
            <a:r>
              <a:t>流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3017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400" b="1" i="0">
                <a:solidFill>
                  <a:srgbClr val="4D6884"/>
                </a:solidFill>
                <a:latin typeface="Arial"/>
              </a:defRPr>
            </a:pPr>
            <a:r>
              <a:t>433.65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352044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495057"/>
                </a:solidFill>
                <a:latin typeface="Songti SC"/>
              </a:defRPr>
            </a:pPr>
            <a:r>
              <a:t>门槛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474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400" b="1" i="0">
                <a:solidFill>
                  <a:srgbClr val="8C5D5D"/>
                </a:solidFill>
                <a:latin typeface="Arial"/>
              </a:defRPr>
            </a:pPr>
            <a:r>
              <a:t>400 / 500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4251960"/>
            <a:ext cx="37490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50">
                <a:solidFill>
                  <a:srgbClr val="495057"/>
                </a:solidFill>
                <a:latin typeface="Songti SC"/>
              </a:rPr>
              <a:t>从约 1290 kW 起步，三条流都下降</a:t>
            </a:r>
          </a:p>
          <a:p>
            <a:pPr>
              <a:spcBef>
                <a:spcPts val="800"/>
              </a:spcBef>
            </a:pPr>
            <a:r>
              <a:rPr sz="1050">
                <a:solidFill>
                  <a:srgbClr val="495057"/>
                </a:solidFill>
                <a:latin typeface="Songti SC"/>
              </a:rPr>
              <a:t>三条均未达 400 / 500 kW 门槛 → 按协议不开放转速与偏航学习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742432"/>
            <a:ext cx="10725912" cy="420624"/>
          </a:xfrm>
          <a:prstGeom prst="rect">
            <a:avLst/>
          </a:prstGeom>
          <a:solidFill>
            <a:srgbClr val="FFFFFF"/>
          </a:solidFill>
          <a:ln>
            <a:solidFill>
              <a:srgbClr val="B9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8C5D5D"/>
                </a:solidFill>
                <a:latin typeface="Songti SC"/>
              </a:rPr>
              <a:t>这一页只下一句结论：学习有效，验收未通过。不写成「已收敛」——最终检查点恰为验证最佳，不证明更长训练仍稳定。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84048"/>
            <a:ext cx="10725912" cy="18288"/>
          </a:xfrm>
          <a:prstGeom prst="rect">
            <a:avLst/>
          </a:prstGeom>
          <a:solidFill>
            <a:srgbClr val="2B2F33"/>
          </a:solidFill>
          <a:ln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0" y="457200"/>
            <a:ext cx="14904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95057"/>
                </a:solidFill>
                <a:latin typeface="Arial"/>
              </a:defRPr>
            </a:pPr>
            <a:r>
              <a:t>08 / 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5912" cy="9144"/>
          </a:xfrm>
          <a:prstGeom prst="rect">
            <a:avLst/>
          </a:prstGeom>
          <a:solidFill>
            <a:srgbClr val="DEE2E6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5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95057"/>
                </a:solidFill>
                <a:latin typeface="Arial"/>
              </a:defRPr>
            </a:pPr>
            <a:r>
              <a:t>多机协同智能功率控制与数字孪生演示 · 中期检查 2026-10 | 汇报人：孙承泽 | 指导教师：李良星 副教授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2000" b="1" i="0">
                <a:solidFill>
                  <a:srgbClr val="1D2024"/>
                </a:solidFill>
                <a:latin typeface="Songti SC"/>
              </a:defRPr>
            </a:pPr>
            <a:r>
              <a:t>结果二 · 同权对照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00" b="1" i="0">
                <a:solidFill>
                  <a:srgbClr val="4D6884"/>
                </a:solidFill>
                <a:latin typeface="Songti SC"/>
              </a:defRPr>
            </a:pPr>
            <a:r>
              <a:t>误差相对初始策略降 58.5%；相对 PI 再低 5.8%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100" b="0" i="1">
                <a:solidFill>
                  <a:srgbClr val="495057"/>
                </a:solidFill>
                <a:latin typeface="Songti SC"/>
              </a:defRPr>
            </a:pPr>
            <a:r>
              <a:t>18 场常规测试的场景 RMSE 均值；± 为三条训练流均值的样本标准差，不是置信区间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691640"/>
          <a:ext cx="585216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560320"/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D2024"/>
                          </a:solidFill>
                          <a:latin typeface="Songti SC"/>
                        </a:rPr>
                        <a:t>控制方法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D2024"/>
                          </a:solidFill>
                          <a:latin typeface="Songti SC"/>
                        </a:rPr>
                        <a:t>常规平均 RMSE / 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D2024"/>
                          </a:solidFill>
                          <a:latin typeface="Songti SC"/>
                        </a:rPr>
                        <a:t>初始 MADDPG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D2024"/>
                          </a:solidFill>
                          <a:latin typeface="Songti SC"/>
                        </a:rPr>
                        <a:t>1083.62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D2024"/>
                          </a:solidFill>
                          <a:latin typeface="Songti SC"/>
                        </a:rPr>
                        <a:t>固定桨距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D2024"/>
                          </a:solidFill>
                          <a:latin typeface="Songti SC"/>
                        </a:rPr>
                        <a:t>1100.34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D2024"/>
                          </a:solidFill>
                          <a:latin typeface="Songti SC"/>
                        </a:rPr>
                        <a:t>P 控制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D2024"/>
                          </a:solidFill>
                          <a:latin typeface="Songti SC"/>
                        </a:rPr>
                        <a:t>552.37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D2024"/>
                          </a:solidFill>
                          <a:latin typeface="Songti SC"/>
                        </a:rPr>
                        <a:t>PI 控制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D2024"/>
                          </a:solidFill>
                          <a:latin typeface="Songti SC"/>
                        </a:rPr>
                        <a:t>477.54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516447"/>
                          </a:solidFill>
                          <a:latin typeface="Songti SC"/>
                        </a:rPr>
                        <a:t>训练后 MADDPG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516447"/>
                          </a:solidFill>
                          <a:latin typeface="Songti SC"/>
                        </a:rPr>
                        <a:t>449.72 ± 40.11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858000" y="1737360"/>
            <a:ext cx="457200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1828800"/>
            <a:ext cx="4206240" cy="47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defRPr sz="3000" b="1" i="0">
                <a:solidFill>
                  <a:srgbClr val="516447"/>
                </a:solidFill>
                <a:latin typeface="Arial"/>
              </a:defRPr>
            </a:pPr>
            <a:r>
              <a:t>−58.5%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2336292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200"/>
              </a:spcBef>
              <a:defRPr sz="1050" b="0" i="0">
                <a:solidFill>
                  <a:srgbClr val="495057"/>
                </a:solidFill>
                <a:latin typeface="Songti SC"/>
              </a:defRPr>
            </a:pPr>
            <a:r>
              <a:t>相对初始策略（硬结论）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3063240"/>
            <a:ext cx="457200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3154680"/>
            <a:ext cx="4206240" cy="47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defRPr sz="3000" b="1" i="0">
                <a:solidFill>
                  <a:srgbClr val="8C5D5D"/>
                </a:solidFill>
                <a:latin typeface="Arial"/>
              </a:defRPr>
            </a:pPr>
            <a:r>
              <a:t>−5.8%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3662172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200"/>
              </a:spcBef>
              <a:defRPr sz="1050" b="0" i="0">
                <a:solidFill>
                  <a:srgbClr val="495057"/>
                </a:solidFill>
                <a:latin typeface="Songti SC"/>
              </a:defRPr>
            </a:pPr>
            <a:r>
              <a:t>误差均值低于 PI，仅均值层面（软结论）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80560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050" b="1">
                <a:solidFill>
                  <a:srgbClr val="1D2024"/>
                </a:solidFill>
                <a:latin typeface="Songti SC"/>
              </a:rPr>
              <a:t>跨流一致性</a:t>
            </a:r>
            <a:r>
              <a:rPr sz="1050">
                <a:solidFill>
                  <a:srgbClr val="DEE2E6"/>
                </a:solidFill>
                <a:latin typeface="Songti SC"/>
              </a:rPr>
              <a:t>｜</a:t>
            </a:r>
            <a:r>
              <a:rPr sz="1050">
                <a:solidFill>
                  <a:srgbClr val="495057"/>
                </a:solidFill>
                <a:latin typeface="Songti SC"/>
              </a:rPr>
              <a:t>三条训练流中有一条弱于 PI，均值优势不等于普适优势</a:t>
            </a:r>
          </a:p>
          <a:p>
            <a:pPr>
              <a:spcBef>
                <a:spcPts val="700"/>
              </a:spcBef>
            </a:pPr>
            <a:r>
              <a:rPr sz="1050" b="1">
                <a:solidFill>
                  <a:srgbClr val="1D2024"/>
                </a:solidFill>
                <a:latin typeface="Songti SC"/>
              </a:rPr>
              <a:t>场景短板</a:t>
            </a:r>
            <a:r>
              <a:rPr sz="1050">
                <a:solidFill>
                  <a:srgbClr val="DEE2E6"/>
                </a:solidFill>
                <a:latin typeface="Songti SC"/>
              </a:rPr>
              <a:t>｜</a:t>
            </a:r>
            <a:r>
              <a:rPr sz="1050">
                <a:solidFill>
                  <a:srgbClr val="495057"/>
                </a:solidFill>
                <a:latin typeface="Songti SC"/>
              </a:rPr>
              <a:t>慢变与低风高目标均劣于 PI（见下一页展开）</a:t>
            </a:r>
          </a:p>
          <a:p>
            <a:pPr>
              <a:spcBef>
                <a:spcPts val="700"/>
              </a:spcBef>
            </a:pPr>
            <a:r>
              <a:rPr sz="1050" b="1">
                <a:solidFill>
                  <a:srgbClr val="1D2024"/>
                </a:solidFill>
                <a:latin typeface="Songti SC"/>
              </a:rPr>
              <a:t>对评委的一句话</a:t>
            </a:r>
            <a:r>
              <a:rPr sz="1050">
                <a:solidFill>
                  <a:srgbClr val="DEE2E6"/>
                </a:solidFill>
                <a:latin typeface="Songti SC"/>
              </a:rPr>
              <a:t>｜</a:t>
            </a:r>
            <a:r>
              <a:rPr sz="1050">
                <a:solidFill>
                  <a:srgbClr val="495057"/>
                </a:solidFill>
                <a:latin typeface="Songti SC"/>
              </a:rPr>
              <a:t>我们赢在均值、输在边界，所以没有把这一页写成结论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742432"/>
            <a:ext cx="10725912" cy="420624"/>
          </a:xfrm>
          <a:prstGeom prst="rect">
            <a:avLst/>
          </a:prstGeom>
          <a:solidFill>
            <a:srgbClr val="FFFFFF"/>
          </a:solidFill>
          <a:ln>
            <a:solidFill>
              <a:srgbClr val="B9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8C5D5D"/>
                </a:solidFill>
                <a:latin typeface="Songti SC"/>
              </a:rPr>
              <a:t>措辞纪律：本页不得表述为「MADDPG 优于传统控制」。正确说法是「均值略低、未达统计显著、跨流可靠性不足」。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84048"/>
            <a:ext cx="10725912" cy="18288"/>
          </a:xfrm>
          <a:prstGeom prst="rect">
            <a:avLst/>
          </a:prstGeom>
          <a:solidFill>
            <a:srgbClr val="2B2F33"/>
          </a:solidFill>
          <a:ln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0" y="457200"/>
            <a:ext cx="14904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95057"/>
                </a:solidFill>
                <a:latin typeface="Arial"/>
              </a:defRPr>
            </a:pPr>
            <a:r>
              <a:t>09 / 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5912" cy="9144"/>
          </a:xfrm>
          <a:prstGeom prst="rect">
            <a:avLst/>
          </a:prstGeom>
          <a:solidFill>
            <a:srgbClr val="DEE2E6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5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95057"/>
                </a:solidFill>
                <a:latin typeface="Arial"/>
              </a:defRPr>
            </a:pPr>
            <a:r>
              <a:t>多机协同智能功率控制与数字孪生演示 · 中期检查 2026-10 | 汇报人：孙承泽 | 指导教师：李良星 副教授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2000" b="1" i="0">
                <a:solidFill>
                  <a:srgbClr val="1D2024"/>
                </a:solidFill>
                <a:latin typeface="Songti SC"/>
              </a:defRPr>
            </a:pPr>
            <a:r>
              <a:t>三个失败场景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00" b="1" i="0">
                <a:solidFill>
                  <a:srgbClr val="4D6884"/>
                </a:solidFill>
                <a:latin typeface="Songti SC"/>
              </a:defRPr>
            </a:pPr>
            <a:r>
              <a:t>负结果怎么用：把它当下一轮的靶子，而不是藏起来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100" b="0" i="1">
                <a:solidFill>
                  <a:srgbClr val="495057"/>
                </a:solidFill>
                <a:latin typeface="Songti SC"/>
              </a:defRPr>
            </a:pPr>
            <a:r>
              <a:t>很多项目只报均值。我们偏要把失败场景放上来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3429000" cy="1965960"/>
          </a:xfrm>
          <a:prstGeom prst="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100" b="1" i="0">
                <a:solidFill>
                  <a:srgbClr val="1D2024"/>
                </a:solidFill>
                <a:latin typeface="Songti SC"/>
              </a:defRPr>
            </a:pPr>
            <a:r>
              <a:t>慢变风向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48840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00" b="0" i="0">
                <a:solidFill>
                  <a:srgbClr val="495057"/>
                </a:solidFill>
                <a:latin typeface="Songti SC"/>
              </a:defRPr>
            </a:pPr>
            <a:r>
              <a:t>MADDPG / kW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7744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2000" b="1" i="0">
                <a:solidFill>
                  <a:srgbClr val="8C5D5D"/>
                </a:solidFill>
                <a:latin typeface="Arial"/>
              </a:defRPr>
            </a:pPr>
            <a:r>
              <a:t>432.08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34640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00" b="0" i="0">
                <a:solidFill>
                  <a:srgbClr val="495057"/>
                </a:solidFill>
                <a:latin typeface="Songti SC"/>
              </a:defRPr>
            </a:pPr>
            <a:r>
              <a:t>PI / kW　417.19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5468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4D6884"/>
                </a:solidFill>
                <a:latin typeface="Songti SC"/>
              </a:defRPr>
            </a:pPr>
            <a:r>
              <a:t>假设：目标条件响应不足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691640"/>
            <a:ext cx="3429000" cy="1965960"/>
          </a:xfrm>
          <a:prstGeom prst="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78308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100" b="1" i="0">
                <a:solidFill>
                  <a:srgbClr val="1D2024"/>
                </a:solidFill>
                <a:latin typeface="Songti SC"/>
              </a:defRPr>
            </a:pPr>
            <a:r>
              <a:t>低风高目标 7.6 m/s / 4.4 MW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148840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00" b="0" i="0">
                <a:solidFill>
                  <a:srgbClr val="495057"/>
                </a:solidFill>
                <a:latin typeface="Songti SC"/>
              </a:defRPr>
            </a:pPr>
            <a:r>
              <a:t>MADDPG / kW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37744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2000" b="1" i="0">
                <a:solidFill>
                  <a:srgbClr val="8C5D5D"/>
                </a:solidFill>
                <a:latin typeface="Arial"/>
              </a:defRPr>
            </a:pPr>
            <a:r>
              <a:t>1727.89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834640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00" b="0" i="0">
                <a:solidFill>
                  <a:srgbClr val="495057"/>
                </a:solidFill>
                <a:latin typeface="Songti SC"/>
              </a:defRPr>
            </a:pPr>
            <a:r>
              <a:t>PI / kW　1383.30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315468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4D6884"/>
                </a:solidFill>
                <a:latin typeface="Songti SC"/>
              </a:defRPr>
            </a:pPr>
            <a:r>
              <a:t>假设：欠功率 + 可达性边界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80" y="1691640"/>
            <a:ext cx="3429000" cy="1965960"/>
          </a:xfrm>
          <a:prstGeom prst="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178308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100" b="1" i="0">
                <a:solidFill>
                  <a:srgbClr val="1D2024"/>
                </a:solidFill>
                <a:latin typeface="Songti SC"/>
              </a:defRPr>
            </a:pPr>
            <a:r>
              <a:t>单条训练流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148840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00" b="0" i="0">
                <a:solidFill>
                  <a:srgbClr val="495057"/>
                </a:solidFill>
                <a:latin typeface="Songti SC"/>
              </a:defRPr>
            </a:pPr>
            <a:r>
              <a:t>MADDPG / kW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237744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2000" b="1" i="0">
                <a:solidFill>
                  <a:srgbClr val="8C5D5D"/>
                </a:solidFill>
                <a:latin typeface="Arial"/>
              </a:defRPr>
            </a:pPr>
            <a:r>
              <a:t>高于 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2834640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00" b="0" i="0">
                <a:solidFill>
                  <a:srgbClr val="495057"/>
                </a:solidFill>
                <a:latin typeface="Songti SC"/>
              </a:defRPr>
            </a:pPr>
            <a:r>
              <a:t>PI / kW　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315468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4D6884"/>
                </a:solidFill>
                <a:latin typeface="Songti SC"/>
              </a:defRPr>
            </a:pPr>
            <a:r>
              <a:t>假设：跨流可靠性未达</a:t>
            </a:r>
          </a:p>
        </p:txBody>
      </p:sp>
      <p:pic>
        <p:nvPicPr>
          <p:cNvPr id="27" name="Picture 26" descr="05_scenario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767328"/>
            <a:ext cx="3246120" cy="182541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217920" y="388620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050" b="1">
                <a:solidFill>
                  <a:srgbClr val="1D2024"/>
                </a:solidFill>
                <a:latin typeface="Songti SC"/>
              </a:rPr>
              <a:t>总体均值会掩盖失效场景</a:t>
            </a:r>
            <a:r>
              <a:rPr sz="1050">
                <a:solidFill>
                  <a:srgbClr val="DEE2E6"/>
                </a:solidFill>
                <a:latin typeface="Songti SC"/>
              </a:rPr>
              <a:t>｜</a:t>
            </a:r>
            <a:r>
              <a:rPr sz="1050">
                <a:solidFill>
                  <a:srgbClr val="495057"/>
                </a:solidFill>
                <a:latin typeface="Songti SC"/>
              </a:rPr>
              <a:t>慢变与低风高目标都输给 PI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D2024"/>
                </a:solidFill>
                <a:latin typeface="Songti SC"/>
              </a:rPr>
              <a:t>下一轮的打法</a:t>
            </a:r>
            <a:r>
              <a:rPr sz="1050">
                <a:solidFill>
                  <a:srgbClr val="DEE2E6"/>
                </a:solidFill>
                <a:latin typeface="Songti SC"/>
              </a:rPr>
              <a:t>｜</a:t>
            </a:r>
            <a:r>
              <a:rPr sz="1050">
                <a:solidFill>
                  <a:srgbClr val="495057"/>
                </a:solidFill>
                <a:latin typeface="Songti SC"/>
              </a:rPr>
              <a:t>先诊断欠功率与目标响应，再开放转速 / 偏航学习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D2024"/>
                </a:solidFill>
                <a:latin typeface="Songti SC"/>
              </a:rPr>
              <a:t>不做的选择</a:t>
            </a:r>
            <a:r>
              <a:rPr sz="1050">
                <a:solidFill>
                  <a:srgbClr val="DEE2E6"/>
                </a:solidFill>
                <a:latin typeface="Songti SC"/>
              </a:rPr>
              <a:t>｜</a:t>
            </a:r>
            <a:r>
              <a:rPr sz="1050">
                <a:solidFill>
                  <a:srgbClr val="495057"/>
                </a:solidFill>
                <a:latin typeface="Songti SC"/>
              </a:rPr>
              <a:t>不靠增加控制通道去刷平均值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742432"/>
            <a:ext cx="10725912" cy="420624"/>
          </a:xfrm>
          <a:prstGeom prst="rect">
            <a:avLst/>
          </a:prstGeom>
          <a:solidFill>
            <a:srgbClr val="FFFFFF"/>
          </a:solidFill>
          <a:ln>
            <a:solidFill>
              <a:srgbClr val="B9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8C5D5D"/>
                </a:solidFill>
                <a:latin typeface="Songti SC"/>
              </a:rPr>
              <a:t>边界：压力场是固定风，不能称为湍流测试；没有全局功率上界证书，不能把全部跟踪损失解释为物理不可达。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84048"/>
            <a:ext cx="10725912" cy="18288"/>
          </a:xfrm>
          <a:prstGeom prst="rect">
            <a:avLst/>
          </a:prstGeom>
          <a:solidFill>
            <a:srgbClr val="2B2F33"/>
          </a:solidFill>
          <a:ln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0" y="457200"/>
            <a:ext cx="14904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95057"/>
                </a:solidFill>
                <a:latin typeface="Arial"/>
              </a:defRPr>
            </a:pPr>
            <a:r>
              <a:t>10 / 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5912" cy="9144"/>
          </a:xfrm>
          <a:prstGeom prst="rect">
            <a:avLst/>
          </a:prstGeom>
          <a:solidFill>
            <a:srgbClr val="DEE2E6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5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95057"/>
                </a:solidFill>
                <a:latin typeface="Arial"/>
              </a:defRPr>
            </a:pPr>
            <a:r>
              <a:t>多机协同智能功率控制与数字孪生演示 · 中期检查 2026-10 | 汇报人：孙承泽 | 指导教师：李良星 副教授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2000" b="1" i="0">
                <a:solidFill>
                  <a:srgbClr val="1D2024"/>
                </a:solidFill>
                <a:latin typeface="Songti SC"/>
              </a:defRPr>
            </a:pPr>
            <a:r>
              <a:t>可复现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00" b="1" i="0">
                <a:solidFill>
                  <a:srgbClr val="4D6884"/>
                </a:solidFill>
                <a:latin typeface="Songti SC"/>
              </a:defRPr>
            </a:pPr>
            <a:r>
              <a:t>我们的护城河：每个数字都能当场点开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100" b="0" i="1">
                <a:solidFill>
                  <a:srgbClr val="495057"/>
                </a:solidFill>
                <a:latin typeface="Songti SC"/>
              </a:defRPr>
            </a:pPr>
            <a:r>
              <a:t>评委现在问任意一个数怎么来的，都可以打开文件核对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737360"/>
          <a:ext cx="10698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023360"/>
                <a:gridCol w="448056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D2024"/>
                          </a:solidFill>
                          <a:latin typeface="Songti SC"/>
                        </a:rPr>
                        <a:t>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D2024"/>
                          </a:solidFill>
                          <a:latin typeface="Songti SC"/>
                        </a:rPr>
                        <a:t>数字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D2024"/>
                          </a:solidFill>
                          <a:latin typeface="Songti SC"/>
                        </a:rPr>
                        <a:t>现场怎么证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2024"/>
                          </a:solidFill>
                          <a:latin typeface="Songti SC"/>
                        </a:rPr>
                        <a:t>仓库门禁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2024"/>
                          </a:solidFill>
                          <a:latin typeface="Songti SC"/>
                        </a:rPr>
                        <a:t>0 error / 0 warning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2024"/>
                          </a:solidFill>
                          <a:latin typeface="Songti SC"/>
                        </a:rPr>
                        <a:t>python3 ci/repo_quality.py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16447"/>
                          </a:solidFill>
                          <a:latin typeface="Songti SC"/>
                        </a:rPr>
                        <a:t>数字孪生自检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16447"/>
                          </a:solidFill>
                          <a:latin typeface="Songti SC"/>
                        </a:rPr>
                        <a:t>161 通过 / 0 失败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16447"/>
                          </a:solidFill>
                          <a:latin typeface="Songti SC"/>
                        </a:rPr>
                        <a:t>cd twin &amp;&amp; npm run selftest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16447"/>
                          </a:solidFill>
                          <a:latin typeface="Songti SC"/>
                        </a:rPr>
                        <a:t>轨迹复算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16447"/>
                          </a:solidFill>
                          <a:latin typeface="Songti SC"/>
                        </a:rPr>
                        <a:t>30,720 行，差值 0 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16447"/>
                          </a:solidFill>
                          <a:latin typeface="Songti SC"/>
                        </a:rPr>
                        <a:t>metrics.csv + validation.json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2024"/>
                          </a:solidFill>
                          <a:latin typeface="Songti SC"/>
                        </a:rPr>
                        <a:t>记录留痕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2024"/>
                          </a:solidFill>
                          <a:latin typeface="Songti SC"/>
                        </a:rPr>
                        <a:t>3,367 文件 / 193 条链接 / 22 份镜像 / 5 份校验和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D2024"/>
                          </a:solidFill>
                          <a:latin typeface="Songti SC"/>
                        </a:rPr>
                        <a:t>docs/ · materials/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434340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100" b="1">
                <a:solidFill>
                  <a:srgbClr val="1D2024"/>
                </a:solidFill>
                <a:latin typeface="Songti SC"/>
              </a:rPr>
              <a:t>四条硬规矩</a:t>
            </a:r>
            <a:r>
              <a:rPr sz="1100">
                <a:solidFill>
                  <a:srgbClr val="DEE2E6"/>
                </a:solidFill>
                <a:latin typeface="Songti SC"/>
              </a:rPr>
              <a:t>｜</a:t>
            </a:r>
            <a:r>
              <a:rPr sz="1100">
                <a:solidFill>
                  <a:srgbClr val="495057"/>
                </a:solidFill>
                <a:latin typeface="Songti SC"/>
              </a:rPr>
              <a:t>一轮一提交一记录；出口不绿不合并；失败实验保留；数字只有一个权威来源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1D2024"/>
                </a:solidFill>
                <a:latin typeface="Songti SC"/>
              </a:rPr>
              <a:t>代价我们也认</a:t>
            </a:r>
            <a:r>
              <a:rPr sz="1100">
                <a:solidFill>
                  <a:srgbClr val="DEE2E6"/>
                </a:solidFill>
                <a:latin typeface="Songti SC"/>
              </a:rPr>
              <a:t>｜</a:t>
            </a:r>
            <a:r>
              <a:rPr sz="1100">
                <a:solidFill>
                  <a:srgbClr val="495057"/>
                </a:solidFill>
                <a:latin typeface="Songti SC"/>
              </a:rPr>
              <a:t>为此多写了 20 余份审计与证据卡，交付节奏比「先做再说」慢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742432"/>
            <a:ext cx="10725912" cy="420624"/>
          </a:xfrm>
          <a:prstGeom prst="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495057"/>
                </a:solidFill>
                <a:latin typeface="Songti SC"/>
              </a:rPr>
              <a:t>这一页是「顶天」与「吹牛」的分界线：可验证性本身就是最强的说服力。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84048"/>
            <a:ext cx="10725912" cy="18288"/>
          </a:xfrm>
          <a:prstGeom prst="rect">
            <a:avLst/>
          </a:prstGeom>
          <a:solidFill>
            <a:srgbClr val="2B2F33"/>
          </a:solidFill>
          <a:ln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0" y="457200"/>
            <a:ext cx="14904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95057"/>
                </a:solidFill>
                <a:latin typeface="Arial"/>
              </a:defRPr>
            </a:pPr>
            <a:r>
              <a:t>11 / 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5912" cy="9144"/>
          </a:xfrm>
          <a:prstGeom prst="rect">
            <a:avLst/>
          </a:prstGeom>
          <a:solidFill>
            <a:srgbClr val="DEE2E6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5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95057"/>
                </a:solidFill>
                <a:latin typeface="Arial"/>
              </a:defRPr>
            </a:pPr>
            <a:r>
              <a:t>多机协同智能功率控制与数字孪生演示 · 中期检查 2026-10 | 汇报人：孙承泽 | 指导教师：李良星 副教授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2000" b="1" i="0">
                <a:solidFill>
                  <a:srgbClr val="1D2024"/>
                </a:solidFill>
                <a:latin typeface="Songti SC"/>
              </a:defRPr>
            </a:pPr>
            <a:r>
              <a:t>局限与下一步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00" b="1" i="0">
                <a:solidFill>
                  <a:srgbClr val="4D6884"/>
                </a:solidFill>
                <a:latin typeface="Songti SC"/>
              </a:defRPr>
            </a:pPr>
            <a:r>
              <a:t>我们自己划的线，和下一轮要打的靶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100" b="0" i="1">
                <a:solidFill>
                  <a:srgbClr val="495057"/>
                </a:solidFill>
                <a:latin typeface="Songti SC"/>
              </a:defRPr>
            </a:pPr>
            <a:r>
              <a:t>答辩不是终点，是下一轮的开始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737360"/>
          <a:ext cx="106984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291840"/>
                <a:gridCol w="4114800"/>
              </a:tblGrid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D2024"/>
                          </a:solidFill>
                          <a:latin typeface="Songti SC"/>
                        </a:rPr>
                        <a:t>现在不宣称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D2024"/>
                          </a:solidFill>
                          <a:latin typeface="Songti SC"/>
                        </a:rPr>
                        <a:t>为什么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D2024"/>
                          </a:solidFill>
                          <a:latin typeface="Songti SC"/>
                        </a:rPr>
                        <a:t>下一步（可交付）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D2024"/>
                          </a:solidFill>
                          <a:latin typeface="Songti SC"/>
                        </a:rPr>
                        <a:t>真实风场精度 / 发电收益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D2024"/>
                          </a:solidFill>
                          <a:latin typeface="Songti SC"/>
                        </a:rPr>
                        <a:t>入口与标签均为合成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D2024"/>
                          </a:solidFill>
                          <a:latin typeface="Songti SC"/>
                        </a:rPr>
                        <a:t>接 CFD 或实测 SCADA 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D2024"/>
                          </a:solidFill>
                          <a:latin typeface="Songti SC"/>
                        </a:rPr>
                        <a:t>三通道协同已学会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D2024"/>
                          </a:solidFill>
                          <a:latin typeface="Songti SC"/>
                        </a:rPr>
                        <a:t>本轮只开放桨距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D2024"/>
                          </a:solidFill>
                          <a:latin typeface="Songti SC"/>
                        </a:rPr>
                        <a:t>先诊断慢变与欠功率，再放开转速 / 偏航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D2024"/>
                          </a:solidFill>
                          <a:latin typeface="Songti SC"/>
                        </a:rPr>
                        <a:t>全局可达性证书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D2024"/>
                          </a:solidFill>
                          <a:latin typeface="Songti SC"/>
                        </a:rPr>
                        <a:t>只做了有限稳态候选扫描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D2024"/>
                          </a:solidFill>
                          <a:latin typeface="Songti SC"/>
                        </a:rPr>
                        <a:t>补齐候选扫描与功率上界证明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D2024"/>
                          </a:solidFill>
                          <a:latin typeface="Songti SC"/>
                        </a:rPr>
                        <a:t>CFD 算例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D2024"/>
                          </a:solidFill>
                          <a:latin typeface="Songti SC"/>
                        </a:rPr>
                        <a:t>几何非流形，网格内存吃满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D2024"/>
                          </a:solidFill>
                          <a:latin typeface="Songti SC"/>
                        </a:rPr>
                        <a:t>修复几何 → 最小复现包 → 单工况可信算例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49834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50" b="0" i="0">
                <a:solidFill>
                  <a:srgbClr val="4D6884"/>
                </a:solidFill>
                <a:latin typeface="Songti SC"/>
              </a:defRPr>
            </a:pPr>
            <a:r>
              <a:t>对应到人：厉今飞（模型与数据）· 洪祖名（控制与诊断）· 田铭雨（CFD）· 袁夫达（建模口径）· 孙承泽（集成与复现）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742432"/>
            <a:ext cx="10725912" cy="420624"/>
          </a:xfrm>
          <a:prstGeom prst="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495057"/>
                </a:solidFill>
                <a:latin typeface="Songti SC"/>
              </a:rPr>
              <a:t>这四条是我们主动写下的，不是被问出来的。9.19 方案 §八：已过去的里程碑应记录偏差与原因，不补写为完成。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84048"/>
            <a:ext cx="10725912" cy="18288"/>
          </a:xfrm>
          <a:prstGeom prst="rect">
            <a:avLst/>
          </a:prstGeom>
          <a:solidFill>
            <a:srgbClr val="2B2F33"/>
          </a:solidFill>
          <a:ln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0" y="457200"/>
            <a:ext cx="14904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95057"/>
                </a:solidFill>
                <a:latin typeface="Arial"/>
              </a:defRPr>
            </a:pPr>
            <a:r>
              <a:t>12 / 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5912" cy="9144"/>
          </a:xfrm>
          <a:prstGeom prst="rect">
            <a:avLst/>
          </a:prstGeom>
          <a:solidFill>
            <a:srgbClr val="DEE2E6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5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95057"/>
                </a:solidFill>
                <a:latin typeface="Arial"/>
              </a:defRPr>
            </a:pPr>
            <a:r>
              <a:t>多机协同智能功率控制与数字孪生演示 · 中期检查 2026-10 | 汇报人：孙承泽 | 指导教师：李良星 副教授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2000" b="1" i="0">
                <a:solidFill>
                  <a:srgbClr val="1D2024"/>
                </a:solidFill>
                <a:latin typeface="Songti SC"/>
              </a:defRPr>
            </a:pPr>
            <a:r>
              <a:t>国际价值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00" b="1" i="0">
                <a:solidFill>
                  <a:srgbClr val="4D6884"/>
                </a:solidFill>
                <a:latin typeface="Songti SC"/>
              </a:defRPr>
            </a:pPr>
            <a:r>
              <a:t>把前沿能力接进「可复现」的边界内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100" b="0" i="1">
                <a:solidFill>
                  <a:srgbClr val="495057"/>
                </a:solidFill>
                <a:latin typeface="Songti SC"/>
              </a:defRPr>
            </a:pPr>
            <a:r>
              <a:t>一个外部事实 → 一个我们的位置 → 一句结论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10607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150" b="1">
                <a:solidFill>
                  <a:srgbClr val="1D2024"/>
                </a:solidFill>
                <a:latin typeface="Songti SC"/>
              </a:rPr>
              <a:t>全球规模</a:t>
            </a:r>
            <a:r>
              <a:rPr sz="1150">
                <a:solidFill>
                  <a:srgbClr val="DEE2E6"/>
                </a:solidFill>
                <a:latin typeface="Songti SC"/>
              </a:rPr>
              <a:t>｜</a:t>
            </a:r>
            <a:r>
              <a:rPr sz="1150">
                <a:solidFill>
                  <a:srgbClr val="495057"/>
                </a:solidFill>
                <a:latin typeface="Songti SC"/>
              </a:rPr>
              <a:t>2025 年新增 164.6 GW（+40%），累计 1,299 GW　【外部 · GWEC《2026 全球风能报告》】</a:t>
            </a:r>
          </a:p>
          <a:p>
            <a:pPr>
              <a:spcBef>
                <a:spcPts val="1400"/>
              </a:spcBef>
            </a:pPr>
            <a:r>
              <a:rPr sz="1150" b="1">
                <a:solidFill>
                  <a:srgbClr val="1D2024"/>
                </a:solidFill>
                <a:latin typeface="Songti SC"/>
              </a:rPr>
              <a:t>技术前沿</a:t>
            </a:r>
            <a:r>
              <a:rPr sz="1150">
                <a:solidFill>
                  <a:srgbClr val="DEE2E6"/>
                </a:solidFill>
                <a:latin typeface="Songti SC"/>
              </a:rPr>
              <a:t>｜</a:t>
            </a:r>
            <a:r>
              <a:rPr sz="1150">
                <a:solidFill>
                  <a:srgbClr val="495057"/>
                </a:solidFill>
                <a:latin typeface="Songti SC"/>
              </a:rPr>
              <a:t>风场级控制被公认为下一站，wake steering 年发电量增益 0.4%–1.7%　【外部 · WES 2024】</a:t>
            </a:r>
          </a:p>
          <a:p>
            <a:pPr>
              <a:spcBef>
                <a:spcPts val="1400"/>
              </a:spcBef>
            </a:pPr>
            <a:r>
              <a:rPr sz="1150" b="1">
                <a:solidFill>
                  <a:srgbClr val="1D2024"/>
                </a:solidFill>
                <a:latin typeface="Songti SC"/>
              </a:rPr>
              <a:t>实测落差</a:t>
            </a:r>
            <a:r>
              <a:rPr sz="1150">
                <a:solidFill>
                  <a:srgbClr val="DEE2E6"/>
                </a:solidFill>
                <a:latin typeface="Songti SC"/>
              </a:rPr>
              <a:t>｜</a:t>
            </a:r>
            <a:r>
              <a:rPr sz="1150">
                <a:solidFill>
                  <a:srgbClr val="495057"/>
                </a:solidFill>
                <a:latin typeface="Songti SC"/>
              </a:rPr>
              <a:t>现场只能拿到静态最优的约一半（损失降低 6.4%–6.6%）　【外部 · WES 2020/2021】</a:t>
            </a:r>
          </a:p>
          <a:p>
            <a:pPr>
              <a:spcBef>
                <a:spcPts val="1400"/>
              </a:spcBef>
            </a:pPr>
            <a:r>
              <a:rPr sz="1150" b="1">
                <a:solidFill>
                  <a:srgbClr val="1D2024"/>
                </a:solidFill>
                <a:latin typeface="Songti SC"/>
              </a:rPr>
              <a:t>国际现实</a:t>
            </a:r>
            <a:r>
              <a:rPr sz="1150">
                <a:solidFill>
                  <a:srgbClr val="DEE2E6"/>
                </a:solidFill>
                <a:latin typeface="Songti SC"/>
              </a:rPr>
              <a:t>｜</a:t>
            </a:r>
            <a:r>
              <a:rPr sz="1150">
                <a:solidFill>
                  <a:srgbClr val="495057"/>
                </a:solidFill>
                <a:latin typeface="Songti SC"/>
              </a:rPr>
              <a:t>上述成果由国家级实验室与大型场站完成，工具链与数据均闭环在少数机构手里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794760"/>
            <a:ext cx="1069848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93192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100" b="1" i="0">
                <a:solidFill>
                  <a:srgbClr val="516447"/>
                </a:solidFill>
                <a:latin typeface="Songti SC"/>
              </a:defRPr>
            </a:pPr>
            <a:r>
              <a:t>我们的位置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261104"/>
            <a:ext cx="10241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400"/>
              </a:spcBef>
              <a:defRPr sz="1200" b="0" i="0">
                <a:solidFill>
                  <a:srgbClr val="1D2024"/>
                </a:solidFill>
                <a:latin typeface="Songti SC"/>
              </a:defRPr>
            </a:pPr>
            <a:r>
              <a:t>不做新的物理模型，而是把「代理模型 → 协同控制 → 数字孪生 → 可复现验证」这条国际主流技术链路，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defRPr sz="1200" b="0" i="0">
                <a:solidFill>
                  <a:srgbClr val="1D2024"/>
                </a:solidFill>
                <a:latin typeface="Songti SC"/>
              </a:defRPr>
            </a:pPr>
            <a:r>
              <a:t>在本科团队里完整跑通、逐式对拍、并留下全部证据——这条链路的每一步都能被第三方复算。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742432"/>
            <a:ext cx="10725912" cy="420624"/>
          </a:xfrm>
          <a:prstGeom prst="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495057"/>
                </a:solidFill>
                <a:latin typeface="Songti SC"/>
              </a:rPr>
              <a:t>措辞纪律：不说「达到国际水平」，只说「把国际主流链路做到可复现」。前者无法证明，后者每一项都有文件。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84048"/>
            <a:ext cx="10725912" cy="18288"/>
          </a:xfrm>
          <a:prstGeom prst="rect">
            <a:avLst/>
          </a:prstGeom>
          <a:solidFill>
            <a:srgbClr val="2B2F33"/>
          </a:solidFill>
          <a:ln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0" y="457200"/>
            <a:ext cx="14904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95057"/>
                </a:solidFill>
                <a:latin typeface="Arial"/>
              </a:defRPr>
            </a:pPr>
            <a:r>
              <a:t>13 / 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5912" cy="9144"/>
          </a:xfrm>
          <a:prstGeom prst="rect">
            <a:avLst/>
          </a:prstGeom>
          <a:solidFill>
            <a:srgbClr val="DEE2E6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5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95057"/>
                </a:solidFill>
                <a:latin typeface="Arial"/>
              </a:defRPr>
            </a:pPr>
            <a:r>
              <a:t>多机协同智能功率控制与数字孪生演示 · 中期检查 2026-10 | 汇报人：孙承泽 | 指导教师：李良星 副教授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2000" b="1" i="0">
                <a:solidFill>
                  <a:srgbClr val="1D2024"/>
                </a:solidFill>
                <a:latin typeface="Songti SC"/>
              </a:defRPr>
            </a:pPr>
            <a:r>
              <a:t>国家价值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00" b="1" i="0">
                <a:solidFill>
                  <a:srgbClr val="4D6884"/>
                </a:solidFill>
                <a:latin typeface="Songti SC"/>
              </a:defRPr>
            </a:pPr>
            <a:r>
              <a:t>装机全球第一之后，验证工具要能自己看见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100" b="0" i="1">
                <a:solidFill>
                  <a:srgbClr val="495057"/>
                </a:solidFill>
                <a:latin typeface="Songti SC"/>
              </a:defRPr>
            </a:pPr>
            <a:r>
              <a:t>能源安全 · 大基地尾流 · 工业软件自主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59893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5720" cy="868680"/>
          </a:xfrm>
          <a:prstGeom prst="rect">
            <a:avLst/>
          </a:prstGeom>
          <a:solidFill>
            <a:srgbClr val="4D6884"/>
          </a:solidFill>
          <a:ln>
            <a:solidFill>
              <a:srgbClr val="4D6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755648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700" b="1" i="0">
                <a:solidFill>
                  <a:srgbClr val="4D6884"/>
                </a:solidFill>
                <a:latin typeface="Arial"/>
              </a:defRPr>
            </a:pPr>
            <a:r>
              <a:t>6.4 亿千瓦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1746504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495057"/>
                </a:solidFill>
                <a:latin typeface="Songti SC"/>
              </a:defRPr>
            </a:pPr>
            <a:r>
              <a:t>我国风电累计装机（+22.9%），连续十余年全球第一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240280"/>
            <a:ext cx="3429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1" i="0">
                <a:solidFill>
                  <a:srgbClr val="8C5D5D"/>
                </a:solidFill>
                <a:latin typeface="Songti SC"/>
              </a:defRPr>
            </a:pPr>
            <a:r>
              <a:t>【外部 · 国家能源局 2026-02】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606040"/>
            <a:ext cx="59893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606040"/>
            <a:ext cx="45720" cy="868680"/>
          </a:xfrm>
          <a:prstGeom prst="rect">
            <a:avLst/>
          </a:prstGeom>
          <a:solidFill>
            <a:srgbClr val="4D6884"/>
          </a:solidFill>
          <a:ln>
            <a:solidFill>
              <a:srgbClr val="4D6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715768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700" b="1" i="0">
                <a:solidFill>
                  <a:srgbClr val="4D6884"/>
                </a:solidFill>
                <a:latin typeface="Arial"/>
              </a:defRPr>
            </a:pPr>
            <a:r>
              <a:t>1.2 亿千瓦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2706624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495057"/>
                </a:solidFill>
                <a:latin typeface="Songti SC"/>
              </a:defRPr>
            </a:pPr>
            <a:r>
              <a:t>2025 年新增装机（+51%），其中「三北」占 79%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3200400"/>
            <a:ext cx="3429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1" i="0">
                <a:solidFill>
                  <a:srgbClr val="8C5D5D"/>
                </a:solidFill>
                <a:latin typeface="Songti SC"/>
              </a:defRPr>
            </a:pPr>
            <a:r>
              <a:t>【外部 · 国家能源局 2026-02】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566160"/>
            <a:ext cx="59893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566160"/>
            <a:ext cx="45720" cy="868680"/>
          </a:xfrm>
          <a:prstGeom prst="rect">
            <a:avLst/>
          </a:prstGeom>
          <a:solidFill>
            <a:srgbClr val="4D6884"/>
          </a:solidFill>
          <a:ln>
            <a:solidFill>
              <a:srgbClr val="4D6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75888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700" b="1" i="0">
                <a:solidFill>
                  <a:srgbClr val="4D6884"/>
                </a:solidFill>
                <a:latin typeface="Arial"/>
              </a:defRPr>
            </a:pPr>
            <a:r>
              <a:t>73% / 49.6%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3666744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50" b="0" i="0">
                <a:solidFill>
                  <a:srgbClr val="495057"/>
                </a:solidFill>
                <a:latin typeface="Songti SC"/>
              </a:defRPr>
            </a:pPr>
            <a:r>
              <a:t>中国占全球新增 / 累计装机比重；海上 48.4 GW 占全球 52%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4160520"/>
            <a:ext cx="3429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850" b="1" i="0">
                <a:solidFill>
                  <a:srgbClr val="8C5D5D"/>
                </a:solidFill>
                <a:latin typeface="Songti SC"/>
              </a:defRPr>
            </a:pPr>
            <a:r>
              <a:t>【外部 · GWEC 2026】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0" y="1645920"/>
            <a:ext cx="4507992" cy="2788920"/>
          </a:xfrm>
          <a:prstGeom prst="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78040" y="1773936"/>
            <a:ext cx="4069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100" b="1" i="0">
                <a:solidFill>
                  <a:srgbClr val="516447"/>
                </a:solidFill>
                <a:latin typeface="Songti SC"/>
              </a:defRPr>
            </a:pPr>
            <a:r>
              <a:t>我们的位置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2103120"/>
            <a:ext cx="40690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950" b="1">
                <a:solidFill>
                  <a:srgbClr val="1D2024"/>
                </a:solidFill>
                <a:latin typeface="Songti SC"/>
              </a:rPr>
              <a:t>行业真问题</a:t>
            </a:r>
            <a:r>
              <a:rPr sz="950">
                <a:solidFill>
                  <a:srgbClr val="DEE2E6"/>
                </a:solidFill>
                <a:latin typeface="Songti SC"/>
              </a:rPr>
              <a:t>｜</a:t>
            </a:r>
            <a:r>
              <a:rPr sz="950">
                <a:solidFill>
                  <a:srgbClr val="495057"/>
                </a:solidFill>
                <a:latin typeface="Songti SC"/>
              </a:rPr>
              <a:t>大基地集中连片布置放大尾流，而风场级控制的设计与验证长期依赖国外商业软件</a:t>
            </a:r>
          </a:p>
          <a:p>
            <a:pPr>
              <a:spcBef>
                <a:spcPts val="900"/>
              </a:spcBef>
            </a:pPr>
            <a:r>
              <a:rPr sz="950" b="1">
                <a:solidFill>
                  <a:srgbClr val="1D2024"/>
                </a:solidFill>
                <a:latin typeface="Songti SC"/>
              </a:rPr>
              <a:t>技术栈</a:t>
            </a:r>
            <a:r>
              <a:rPr sz="950">
                <a:solidFill>
                  <a:srgbClr val="DEE2E6"/>
                </a:solidFill>
                <a:latin typeface="Songti SC"/>
              </a:rPr>
              <a:t>｜</a:t>
            </a:r>
            <a:r>
              <a:rPr sz="950">
                <a:solidFill>
                  <a:srgbClr val="495057"/>
                </a:solidFill>
                <a:latin typeface="Songti SC"/>
              </a:rPr>
              <a:t>FLORIS 4.6.6 开源内核 + 自研 GCH 逐式对拍 + 浏览器端孪生</a:t>
            </a:r>
          </a:p>
          <a:p>
            <a:pPr>
              <a:spcBef>
                <a:spcPts val="900"/>
              </a:spcBef>
            </a:pPr>
            <a:r>
              <a:rPr sz="950" b="1">
                <a:solidFill>
                  <a:srgbClr val="1D2024"/>
                </a:solidFill>
                <a:latin typeface="Songti SC"/>
              </a:rPr>
              <a:t>可迁移</a:t>
            </a:r>
            <a:r>
              <a:rPr sz="950">
                <a:solidFill>
                  <a:srgbClr val="DEE2E6"/>
                </a:solidFill>
                <a:latin typeface="Songti SC"/>
              </a:rPr>
              <a:t>｜</a:t>
            </a:r>
            <a:r>
              <a:rPr sz="950">
                <a:solidFill>
                  <a:srgbClr val="495057"/>
                </a:solidFill>
                <a:latin typeface="Songti SC"/>
              </a:rPr>
              <a:t>不依赖任何商业许可，高校与中小整机厂可直接复用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617720"/>
            <a:ext cx="10725912" cy="868680"/>
          </a:xfrm>
          <a:prstGeom prst="rect">
            <a:avLst/>
          </a:prstGeom>
          <a:solidFill>
            <a:srgbClr val="4D6884"/>
          </a:solidFill>
          <a:ln>
            <a:solidFill>
              <a:srgbClr val="4D6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718304"/>
            <a:ext cx="10241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00" b="1" i="0">
                <a:solidFill>
                  <a:srgbClr val="FFFFFF"/>
                </a:solidFill>
                <a:latin typeface="Songti SC"/>
              </a:defRPr>
            </a:pPr>
            <a:r>
              <a:t>对应国家需求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9834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150" b="1" i="0">
                <a:solidFill>
                  <a:srgbClr val="FFFFFF"/>
                </a:solidFill>
                <a:latin typeface="Songti SC"/>
              </a:defRPr>
            </a:pPr>
            <a:r>
              <a:t>双碳目标下的存量场站提效（不新增硬件）· 大基地尾流治理 · 工业软件自主可控的验证能力 · 本科生科研训练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742432"/>
            <a:ext cx="10725912" cy="420624"/>
          </a:xfrm>
          <a:prstGeom prst="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>
                <a:solidFill>
                  <a:srgbClr val="495057"/>
                </a:solidFill>
                <a:latin typeface="Songti SC"/>
              </a:rPr>
              <a:t>措辞纪律：不说「替代国外商业软件」，只说「不依赖商业许可的验证环境」。说替代，一定会被追问到崩。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84048"/>
            <a:ext cx="10725912" cy="18288"/>
          </a:xfrm>
          <a:prstGeom prst="rect">
            <a:avLst/>
          </a:prstGeom>
          <a:solidFill>
            <a:srgbClr val="2B2F33"/>
          </a:solidFill>
          <a:ln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0" y="457200"/>
            <a:ext cx="14904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95057"/>
                </a:solidFill>
                <a:latin typeface="Arial"/>
              </a:defRPr>
            </a:pPr>
            <a:r>
              <a:t>14 / 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309360"/>
            <a:ext cx="10725912" cy="9144"/>
          </a:xfrm>
          <a:prstGeom prst="rect">
            <a:avLst/>
          </a:prstGeom>
          <a:solidFill>
            <a:srgbClr val="DEE2E6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5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95057"/>
                </a:solidFill>
                <a:latin typeface="Arial"/>
              </a:defRPr>
            </a:pPr>
            <a:r>
              <a:t>多机协同智能功率控制与数字孪生演示 · 中期检查 2026-10 | 汇报人：孙承泽 | 指导教师：李良星 副教授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2000" b="1" i="0">
                <a:solidFill>
                  <a:srgbClr val="1D2024"/>
                </a:solidFill>
                <a:latin typeface="Songti SC"/>
              </a:defRPr>
            </a:pPr>
            <a:r>
              <a:t>社会价值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00" b="1" i="0">
                <a:solidFill>
                  <a:srgbClr val="4D6884"/>
                </a:solidFill>
                <a:latin typeface="Songti SC"/>
              </a:defRPr>
            </a:pPr>
            <a:r>
              <a:t>同样的风，更少的弃风；同样的课，更可复用的模板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100" b="0" i="1">
                <a:solidFill>
                  <a:srgbClr val="495057"/>
                </a:solidFill>
                <a:latin typeface="Songti SC"/>
              </a:defRPr>
            </a:pPr>
            <a:r>
              <a:t>电价 · 教育 · 科研诚信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737360"/>
            <a:ext cx="3429000" cy="1783080"/>
          </a:xfrm>
          <a:prstGeom prst="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737360"/>
            <a:ext cx="3429000" cy="41148"/>
          </a:xfrm>
          <a:prstGeom prst="rect">
            <a:avLst/>
          </a:prstGeom>
          <a:solidFill>
            <a:srgbClr val="4D6884"/>
          </a:solidFill>
          <a:ln>
            <a:solidFill>
              <a:srgbClr val="4D6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8366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00" b="1" i="0">
                <a:solidFill>
                  <a:srgbClr val="4D6884"/>
                </a:solidFill>
                <a:latin typeface="Songti SC"/>
              </a:defRPr>
            </a:pPr>
            <a:r>
              <a:t>电价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231136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300"/>
              </a:spcBef>
              <a:defRPr sz="1000" b="0" i="0">
                <a:solidFill>
                  <a:srgbClr val="495057"/>
                </a:solidFill>
                <a:latin typeface="Songti SC"/>
              </a:defRPr>
            </a:pPr>
            <a:r>
              <a:t>国际研究显示 wake steering 的收益增益比能量增益还高约 4%（高价时段多发）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2004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00" b="0" i="0">
                <a:solidFill>
                  <a:srgbClr val="8C5D5D"/>
                </a:solidFill>
                <a:latin typeface="Songti SC"/>
              </a:defRPr>
            </a:pPr>
            <a:r>
              <a:t>【外部 · WES 2024】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737360"/>
            <a:ext cx="3429000" cy="1783080"/>
          </a:xfrm>
          <a:prstGeom prst="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737360"/>
            <a:ext cx="3429000" cy="41148"/>
          </a:xfrm>
          <a:prstGeom prst="rect">
            <a:avLst/>
          </a:prstGeom>
          <a:solidFill>
            <a:srgbClr val="4D6884"/>
          </a:solidFill>
          <a:ln>
            <a:solidFill>
              <a:srgbClr val="4D6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188366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00" b="1" i="0">
                <a:solidFill>
                  <a:srgbClr val="4D6884"/>
                </a:solidFill>
                <a:latin typeface="Songti SC"/>
              </a:defRPr>
            </a:pPr>
            <a:r>
              <a:t>教育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231136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300"/>
              </a:spcBef>
              <a:defRPr sz="1000" b="0" i="0">
                <a:solidFill>
                  <a:srgbClr val="495057"/>
                </a:solidFill>
                <a:latin typeface="Songti SC"/>
              </a:defRPr>
            </a:pPr>
            <a:r>
              <a:t>数据—模型—控制—可视化—复现全链路留档：3,367 个文件，每步可回溯，可直接作为本科生科研训练模板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32004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00" b="0" i="0">
                <a:solidFill>
                  <a:srgbClr val="8C5D5D"/>
                </a:solidFill>
                <a:latin typeface="Songti SC"/>
              </a:defRPr>
            </a:pPr>
            <a:r>
              <a:t>【实测 · 本仓库】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80" y="1737360"/>
            <a:ext cx="3429000" cy="1783080"/>
          </a:xfrm>
          <a:prstGeom prst="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55280" y="1737360"/>
            <a:ext cx="3429000" cy="41148"/>
          </a:xfrm>
          <a:prstGeom prst="rect">
            <a:avLst/>
          </a:prstGeom>
          <a:solidFill>
            <a:srgbClr val="4D6884"/>
          </a:solidFill>
          <a:ln>
            <a:solidFill>
              <a:srgbClr val="4D6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56448" y="188366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200" b="1" i="0">
                <a:solidFill>
                  <a:srgbClr val="4D6884"/>
                </a:solidFill>
                <a:latin typeface="Songti SC"/>
              </a:defRPr>
            </a:pPr>
            <a:r>
              <a:t>诚信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6448" y="2231136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300"/>
              </a:spcBef>
              <a:defRPr sz="1000" b="0" i="0">
                <a:solidFill>
                  <a:srgbClr val="495057"/>
                </a:solidFill>
                <a:latin typeface="Songti SC"/>
              </a:defRPr>
            </a:pPr>
            <a:r>
              <a:t>主动报告失败场景与未过门槛——这是我们在这次答辩里最想留下的示范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6448" y="32004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900" b="0" i="0">
                <a:solidFill>
                  <a:srgbClr val="8C5D5D"/>
                </a:solidFill>
                <a:latin typeface="Songti SC"/>
              </a:defRPr>
            </a:pPr>
            <a:r>
              <a:t>【自述 · 本项目做法】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794760"/>
            <a:ext cx="10725912" cy="18288"/>
          </a:xfrm>
          <a:prstGeom prst="rect">
            <a:avLst/>
          </a:prstGeom>
          <a:solidFill>
            <a:srgbClr val="2B2F33"/>
          </a:solidFill>
          <a:ln>
            <a:solidFill>
              <a:srgbClr val="2B2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977639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defRPr sz="2400" b="1" i="0">
                <a:solidFill>
                  <a:srgbClr val="1D2024"/>
                </a:solidFill>
                <a:latin typeface="Songti SC"/>
              </a:defRPr>
            </a:pPr>
            <a:r>
              <a:t>「我们没做出一个漂亮的数字，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defRPr sz="2400" b="1" i="0">
                <a:solidFill>
                  <a:srgbClr val="1D2024"/>
                </a:solidFill>
                <a:latin typeface="Songti SC"/>
              </a:defRPr>
            </a:pPr>
            <a:r>
              <a:t>我们做出了一件可以被检查的东西。」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5321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defRPr sz="1050" b="0" i="0">
                <a:solidFill>
                  <a:srgbClr val="495057"/>
                </a:solidFill>
                <a:latin typeface="Songti SC"/>
              </a:defRPr>
            </a:pPr>
            <a:r>
              <a:t>感谢各位老师。全部代码、数据、审计与失败记录见仓库 sunccchengze/FENGDIAN_2026（门禁 0 error / 0 warning）。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