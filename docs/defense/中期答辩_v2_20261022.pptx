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 页 · 目标 24 秒 · 口播 95 字】</a:t>
            </a:r>
          </a:p>
          <a:p/>
          <a:p>
            <a:r>
              <a:t>各位老师上午好。我是孙承泽。接下来十二分钟，我只讲一件事：我们把风场级协同控制这条链路，从论文里的公式，做成了一个能跑、能看、能被复算的系统。而且在我们结果不理想的时候，我们选择了如实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2 页 · 目标 44 秒 · 口播 166 字】</a:t>
            </a:r>
          </a:p>
          <a:p/>
          <a:p>
            <a:r>
              <a:t>先给结论，四个数字。第一，十二维输入、六维输出，接口已经打通。第二，三机功率跟踪误差从一千零八十三千瓦降到四百五十千瓦，降了百分之五十八点五。第三，数字孪生两套布局的自检，一百六十一项和一百五十八项，零失败。第四，三万零七百二十行轨迹重算一遍，和原始记录差零瓦。前两个是模型结果，后两个是工程事实，这两类我们全程分开说，绝不混着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3 页 · 目标 50 秒 · 口播 196 字】</a:t>
            </a:r>
          </a:p>
          <a:p/>
          <a:p>
            <a:r>
              <a:t>为什么要做这件事。三台机器串列、零偏航，全场两千七百零二千瓦；把尾流去掉，是五千二百六十二千瓦。将近一半的电，被前面那台的尾流吃掉了。这是我们这个场景的模拟真值，四十八点六。但我不打算拿这个数字去讲效果。国际上真实风场的实测区间是百分之四到二十，而所有花哨的控制手段，年发电量增益只有百分之零点四到一点七，现场实测还只能拿到一半。所以一开始我们就把目标定清楚了：不追这个百分比，先把链路做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4 页 · 目标 54 秒 · 口播 221 字】</a:t>
            </a:r>
          </a:p>
          <a:p/>
          <a:p>
            <a:r>
              <a:t>怎么把电拿回来？偏航。让上风向的机组稍微偏一点，把尾流推离下风向的机器。右边这条曲线是十三个真实求解点，从负三十度到正三十度，一个点一个点算出来的，中间没有插值补点。零度，两千七百零二；十度，两千九百一十一；二十度，三千一百零七，提升约百分之十五。请注意，这条曲线不是单调往上走的：到正负三十度，反而掉回三千左右。因为偏航本身也在损失上风向机组的出力。所以这不是「偏得越多越好」，而是一个有最优点的取舍问题——这正是要有模型、要有求解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5 页 · 目标 45 秒 · 口播 186 字】</a:t>
            </a:r>
          </a:p>
          <a:p/>
          <a:p>
            <a:r>
              <a:t>但三台机器不能同一个角度。第一步，只动上风向那台，全场从两千七百零二涨到三千零六十。第二步，再动中间那台，三千二百九十九点八，百分之二十二点一一。注意，这不是一次性算出来的，是一台一台让出来的：上风向多让一点，中间那台就多拿回一些，末台再补一点。协同的意思，就在这里。而且要说明：这是逐机贪心，不是全局最优——它快、可解释、每一步都能验收，但严格的最优解我们这一轮没有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6 页 · 目标 42 秒 · 口播 174 字】</a:t>
            </a:r>
          </a:p>
          <a:p/>
          <a:p>
            <a:r>
              <a:t>为了把这件事做出来，我们把它拆成五段：来流、代理模型、协同控制、统一执行器、数字孪生。绿色是已经打通的，褐色是接了但还弱：代理模型还是合成标签，控制只开了桨距。我们把通的和没通的画在同一张图上。下面这三条，是我们敢说「系统」而不是「拼盘」的理由：一套字段、一套场景、一套证据。这五段里，只要有一段是「各干各的」，它就不是系统，而是五份作业订在一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7 页 · 目标 50 秒 · 口播 197 字】</a:t>
            </a:r>
          </a:p>
          <a:p/>
          <a:p>
            <a:r>
              <a:t>这一页不是录像，是我们系统自己的循环，七步：选工况、看基准、调航向、求解、复核、可靠性、导出。每一帧都是真实截图，等会儿讲完，我可以当场再跑一遍。请看第五步：优化前和优化后的速度场并排放，尾流核被推开了，功率从两千七百零二跳到三千二百九十九点八。第六步是可靠性复核，第七步导出材料，每一次运行的输入、输出、耗时都落成文件。单步稳态求解两到八毫秒，所以整个闭环是秒级的——这也是它敢当场跑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8 页 · 目标 36 秒 · 口播 144 字】</a:t>
            </a:r>
          </a:p>
          <a:p/>
          <a:p>
            <a:r>
              <a:t>这里有个取舍。队友的模型原来是九输入，我们把它接到十二维接口上。没有重训：冻结主干，只训新增的输入连接和新的输出头。三千零九十万个参数里，只动两万四千三百零六个，百分之零点七九。低目标和中目标的验证误差是十八点一四和一点六九千瓦。高目标我们主动停在门槛前——因为继续调，就是拿测试集调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9 页 · 目标 30 秒 · 口播 105 字】</a:t>
            </a:r>
          </a:p>
          <a:p/>
          <a:p>
            <a:r>
              <a:t>训练和测试不能靠一个风况。我们自己建了场景库：平稳湍流、慢变风向、阵风，三类入口，同一套评价口径，测试集和训练集分开。左边这三条线是真实的时间序列，不是示意。请记住慢变和阵风这两类——它们是后面失败场景的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10 页 · 目标 30 秒 · 口播 109 字】</a:t>
            </a:r>
          </a:p>
          <a:p/>
          <a:p>
            <a:r>
              <a:t>对比最怕起跑线不一样。学的方法能瞬间改桨距，传统方法被限速，这样比出来的优势是假的。所以我们把执行器抽出来做成公共模块：算法只给目标值，速率、时间常数、量程，由同一套物理约束去施加。三种控制器，拿到的是完全相同的约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11 页 · 目标 43 秒 · 口播 175 字】</a:t>
            </a:r>
          </a:p>
          <a:p/>
          <a:p>
            <a:r>
              <a:t>三条独立的训练流，各一万六千三百八十四步。误差从一千二百九十千瓦一路降到四百七十一点七九、四百四十四点一四、四百三十三点六五，曲线确实在降。起点是一千二百九十千瓦。但我们自己定的门槛是四百和五百，三条都没过。所以这一页的结论只有一句：学习有效，验收未通过。门槛不是事后画上去的，是项目方案里先写死的；过不了，就不往下开通道——这是我们给自己设的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12 页 · 目标 34 秒 · 口播 127 字】</a:t>
            </a:r>
          </a:p>
          <a:p/>
          <a:p>
            <a:r>
              <a:t>同权对照。初始策略一千零八十三点六二，固定桨距一千一百点三四，P 控制五百五十二点三七，PI 四百七十七点五四，我们四百四十九点七二。相对初始策略降了百分之五十八点五，这是硬结论。相对 PI 只低百分之五点八，这是软结论——而且三条流里有一条输给 PI。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13 页 · 目标 33 秒 · 口播 126 字】</a:t>
            </a:r>
          </a:p>
          <a:p/>
          <a:p>
            <a:r>
              <a:t>接着就是那三个输掉的场景。慢变风向，我们四百三十二，PI 四百一十七。低风高目标，一千七百二十八对一千三百八十三。还有一条训练流整体弱于 PI。很多组到这一步只报均值。我们选择把这三张卡放上来——因为如果连我们自己都不敢看失败场景，这套系统就没人能信。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14 页 · 目标 32 秒 · 口播 120 字】</a:t>
            </a:r>
          </a:p>
          <a:p/>
          <a:p>
            <a:r>
              <a:t>那凭什么信我们？凭每个数字都能点回去。两套布局的自检，一百六十一项、一百五十八项，零失败。两百四十个测试场、每个一百二十八步，三万零七百二十行轨迹重算一遍，和原始记录差零瓦。四十多轮迭代，全部过程文档都在我们共享的资料空间里，谁都可以去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15 页 · 目标 26 秒 · 口播 95 字】</a:t>
            </a:r>
          </a:p>
          <a:p/>
          <a:p>
            <a:r>
              <a:t>当然，我们自己画了四条线：真实风场精度，现在不宣称；三通道协同，只开了桨距；全局可达性，还没有证书；CFD 算例，几何非流形，这一轮没跑出可信结果。这四条不是被问出来的，是我们自己写下来的。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16 页 · 目标 36 秒 · 口播 141 字】</a:t>
            </a:r>
          </a:p>
          <a:p/>
          <a:p>
            <a:r>
              <a:t>最后，说这件事的意义。去年全球新增风电一百六十四点六吉瓦，累计一千二百九十九吉瓦。风场级控制被公认为下一站，但国际上的天花板是年发电量百分之一到二，现场实测只能拿到一半，而且这些成果都出自国家实验室和大型场站。我们做不了他们的规模，但我们可以把这条链路，在一个本科团队里跑到可复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17 页 · 目标 38 秒 · 口播 148 字】</a:t>
            </a:r>
          </a:p>
          <a:p/>
          <a:p>
            <a:r>
              <a:t>我们国家风电累计六点四亿千瓦，占全球一半；去年新增一点二亿千瓦，增长百分之五十一，「三北」占了七成九。装机第一之后，下一个问题是：这些场站怎么多发电？而设计、验证这些控制的工具，长期是买来的。我们这套东西，内核开源、逐式对拍、不依赖任何商业许可。它离工业级很远，但方向是：能自己看见，能自己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18 页 · 目标 33 秒 · 口播 130 字】</a:t>
            </a:r>
          </a:p>
          <a:p/>
          <a:p>
            <a:r>
              <a:t>再往下一层。同样的风，更少的弃风——国际上 wake steering 的收益增益，比能量增益还高约百分之四，因为多发的那部分电，正好落在高价时段。同样的课，更可复用的模板——四十多轮迭代的全过程，可以直接拿去做本科生的科研训练。还有一条：我们主动报告了失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19 页 · 目标 38 秒 · 口播 154 字】</a:t>
            </a:r>
          </a:p>
          <a:p/>
          <a:p>
            <a:r>
              <a:t>中期不是终点。下一步三件事：把转速和偏航两个通道打开，先治慢变和欠功率；把入口从合成谱换成实测或 CFD 数据，给精度一个交代；把可达性从有限扫描做成证明。每一件都写清了验收标准：跨流不再有输给 PI 的场景、精度有一个能被检验的交代、哪部分损失是物理不可达要说清楚。这三件事做完，这套系统才配叫「风场级」。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20 页 · 目标 36 秒 · 口播 135 字】</a:t>
            </a:r>
          </a:p>
          <a:p/>
          <a:p>
            <a:r>
              <a:t>最后，我想说三句话。第一句：这半年我们最大的产出，不是那个五十八点五，而是一套允许别人说我们错的工作方式。第二句：我们这一代人学风电，起点是买来的软件；终点，应该是我们自己写出来的软件。第三句：中国的风，应当由中国人自己的算法来驾驭。谢谢各位老师，欢迎提问，也欢迎质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gif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gif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3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863840" cy="6858000"/>
          </a:xfrm>
          <a:prstGeom prst="rect">
            <a:avLst/>
          </a:prstGeom>
          <a:solidFill>
            <a:srgbClr val="0B1013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188720"/>
            <a:ext cx="54864" cy="2788920"/>
          </a:xfrm>
          <a:prstGeom prst="rect">
            <a:avLst/>
          </a:prstGeom>
          <a:solidFill>
            <a:srgbClr val="A08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52144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A08355"/>
                </a:solidFill>
                <a:latin typeface="Songti SC"/>
              </a:defRPr>
            </a:pPr>
            <a:r>
              <a:t>国家级大学生创新创业训练计划 · 中期检查 · 2026 年 10 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106070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defRPr sz="4000" b="1" i="0">
                <a:solidFill>
                  <a:srgbClr val="FFFFFF"/>
                </a:solidFill>
                <a:latin typeface="Songti SC"/>
              </a:defRPr>
            </a:pPr>
            <a:r>
              <a:t>多机协同智能功率控制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59152"/>
            <a:ext cx="106070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defRPr sz="4000" b="1" i="0">
                <a:solidFill>
                  <a:srgbClr val="FFFFFF"/>
                </a:solidFill>
                <a:latin typeface="Songti SC"/>
              </a:defRPr>
            </a:pPr>
            <a:r>
              <a:t>与数字孪生演示平台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10128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400" b="0" i="0">
                <a:solidFill>
                  <a:srgbClr val="B4BCC2"/>
                </a:solidFill>
                <a:latin typeface="Songti SC"/>
              </a:defRPr>
            </a:pPr>
            <a:r>
              <a:t>从代理模型到协同控制，从数字孪生到可复现闭环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950208"/>
            <a:ext cx="4572000" cy="9144"/>
          </a:xfrm>
          <a:prstGeom prst="rect">
            <a:avLst/>
          </a:prstGeom>
          <a:solidFill>
            <a:srgbClr val="A08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600"/>
              </a:spcBef>
              <a:defRPr sz="1050" b="0" i="0">
                <a:solidFill>
                  <a:srgbClr val="B4BCC2"/>
                </a:solidFill>
                <a:latin typeface="Songti SC"/>
              </a:defRPr>
            </a:pPr>
            <a:r>
              <a:t>汇报人　孙承泽　　指导教师　李良星 副教授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defRPr sz="1050" b="0" i="0">
                <a:solidFill>
                  <a:srgbClr val="B4BCC2"/>
                </a:solidFill>
                <a:latin typeface="Songti SC"/>
              </a:defRPr>
            </a:pPr>
            <a:r>
              <a:t>团队　厉今飞（项目负责人 / AI）· 袁夫达（建模）· 田铭雨（仿真）· 洪祖名（优化控制）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89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B4BCC2"/>
                </a:solidFill>
                <a:latin typeface="Songti SC"/>
              </a:defRPr>
            </a:pPr>
            <a:r>
              <a:t>西安交通大学 · 2026.10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65760"/>
            <a:ext cx="10874959" cy="16459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36047" y="384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565F67"/>
                </a:solidFill>
                <a:latin typeface="Arial"/>
              </a:defRPr>
            </a:pPr>
            <a:r>
              <a:t>02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A08355"/>
                </a:solidFill>
                <a:latin typeface="Arial"/>
              </a:defRPr>
            </a:pPr>
            <a:r>
              <a:t>01 一页看懂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96862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defRPr sz="2500" b="1" i="0">
                <a:solidFill>
                  <a:srgbClr val="12161A"/>
                </a:solidFill>
                <a:latin typeface="Songti SC"/>
              </a:defRPr>
            </a:pPr>
            <a:r>
              <a:t>四个数字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692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50" b="1" i="0">
                <a:solidFill>
                  <a:srgbClr val="3D5A73"/>
                </a:solidFill>
                <a:latin typeface="Songti SC"/>
              </a:defRPr>
            </a:pPr>
            <a:r>
              <a:t>接口通没通 · 学习有没有效 · 系统稳不稳 · 结果能不能被算回来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692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0" i="1">
                <a:solidFill>
                  <a:srgbClr val="565F67"/>
                </a:solidFill>
                <a:latin typeface="Songti SC"/>
              </a:defRPr>
            </a:pPr>
            <a:r>
              <a:t>前两个是模型结果，后两个是工程事实——这两类，我们全程分开说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58384" cy="19751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011680"/>
            <a:ext cx="45720" cy="1975104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194560"/>
            <a:ext cx="48097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4000" b="1" i="0">
                <a:solidFill>
                  <a:srgbClr val="3D5A73"/>
                </a:solidFill>
                <a:latin typeface="Arial"/>
              </a:defRPr>
            </a:pPr>
            <a:r>
              <a:t>12 →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944368"/>
            <a:ext cx="48554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defRPr sz="1050" b="0" i="0">
                <a:solidFill>
                  <a:srgbClr val="565F67"/>
                </a:solidFill>
                <a:latin typeface="Songti SC"/>
              </a:defRPr>
            </a:pPr>
            <a:r>
              <a:t>十二维来流与控制输入 → 六维功率与有效风速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474720"/>
            <a:ext cx="4855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8B5C5C"/>
                </a:solidFill>
                <a:latin typeface="Songti SC"/>
              </a:defRPr>
            </a:pPr>
            <a:r>
              <a:t>【接口】接口已打通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1344" y="2011680"/>
            <a:ext cx="5358384" cy="19751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2011680"/>
            <a:ext cx="45720" cy="1975104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194560"/>
            <a:ext cx="48097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4000" b="1" i="0">
                <a:solidFill>
                  <a:srgbClr val="3D5A73"/>
                </a:solidFill>
                <a:latin typeface="Arial"/>
              </a:defRPr>
            </a:pPr>
            <a:r>
              <a:t>−58.5%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944368"/>
            <a:ext cx="48554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defRPr sz="1050" b="0" i="0">
                <a:solidFill>
                  <a:srgbClr val="565F67"/>
                </a:solidFill>
                <a:latin typeface="Songti SC"/>
              </a:defRPr>
            </a:pPr>
            <a:r>
              <a:t>三机功率跟踪误差 1083.62 → 449.72 kW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474720"/>
            <a:ext cx="4855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8B5C5C"/>
                </a:solidFill>
                <a:latin typeface="Songti SC"/>
              </a:defRPr>
            </a:pPr>
            <a:r>
              <a:t>【模型结果】相对初始策略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151376"/>
            <a:ext cx="5358384" cy="19751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151376"/>
            <a:ext cx="45720" cy="1975104"/>
          </a:xfrm>
          <a:prstGeom prst="rect">
            <a:avLst/>
          </a:prstGeom>
          <a:solidFill>
            <a:srgbClr val="4E6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334256"/>
            <a:ext cx="48097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4000" b="1" i="0">
                <a:solidFill>
                  <a:srgbClr val="4E6242"/>
                </a:solidFill>
                <a:latin typeface="Arial"/>
              </a:defRPr>
            </a:pPr>
            <a:r>
              <a:t>161 / 158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5084064"/>
            <a:ext cx="48554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defRPr sz="1050" b="0" i="0">
                <a:solidFill>
                  <a:srgbClr val="565F67"/>
                </a:solidFill>
                <a:latin typeface="Songti SC"/>
              </a:defRPr>
            </a:pPr>
            <a:r>
              <a:t>两套布局的自检项数，失败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5614416"/>
            <a:ext cx="4855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8B5C5C"/>
                </a:solidFill>
                <a:latin typeface="Songti SC"/>
              </a:defRPr>
            </a:pPr>
            <a:r>
              <a:t>【自检】工程事实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1344" y="4151376"/>
            <a:ext cx="5358384" cy="19751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81344" y="4151376"/>
            <a:ext cx="45720" cy="1975104"/>
          </a:xfrm>
          <a:prstGeom prst="rect">
            <a:avLst/>
          </a:prstGeom>
          <a:solidFill>
            <a:srgbClr val="4E6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334256"/>
            <a:ext cx="48097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4000" b="1" i="0">
                <a:solidFill>
                  <a:srgbClr val="4E6242"/>
                </a:solidFill>
                <a:latin typeface="Arial"/>
              </a:defRPr>
            </a:pPr>
            <a:r>
              <a:t>0 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084064"/>
            <a:ext cx="48554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defRPr sz="1050" b="0" i="0">
                <a:solidFill>
                  <a:srgbClr val="565F67"/>
                </a:solidFill>
                <a:latin typeface="Songti SC"/>
              </a:defRPr>
            </a:pPr>
            <a:r>
              <a:t>30,720 行轨迹复算与原始记录的差值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614416"/>
            <a:ext cx="4855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8B5C5C"/>
                </a:solidFill>
                <a:latin typeface="Songti SC"/>
              </a:defRPr>
            </a:pPr>
            <a:r>
              <a:t>【复算】工程事实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815584"/>
            <a:ext cx="10874959" cy="402336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" y="58978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8B5C5C"/>
                </a:solidFill>
                <a:latin typeface="Songti SC"/>
              </a:defRPr>
            </a:pPr>
            <a:r>
              <a:t>说明：前两格是模型结果，后两格是工程事实。所有页面沿用它——模型结果不说成实测，工程事实不吹成效果。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28232"/>
            <a:ext cx="9777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多机协同智能功率控制与数字孪生演示 · 中期检查 2026-10 · 汇报人 孙承泽 · 指导教师 李良星 副教授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6355080"/>
            <a:ext cx="10874959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65760"/>
            <a:ext cx="10874959" cy="16459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36047" y="384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565F67"/>
                </a:solidFill>
                <a:latin typeface="Arial"/>
              </a:defRPr>
            </a:pPr>
            <a:r>
              <a:t>03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A08355"/>
                </a:solidFill>
                <a:latin typeface="Arial"/>
              </a:defRPr>
            </a:pPr>
            <a:r>
              <a:t>02 问题的量级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96862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defRPr sz="2500" b="1" i="0">
                <a:solidFill>
                  <a:srgbClr val="12161A"/>
                </a:solidFill>
                <a:latin typeface="Songti SC"/>
              </a:defRPr>
            </a:pPr>
            <a:r>
              <a:t>尾流吃掉的，是一半的电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692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50" b="1" i="0">
                <a:solidFill>
                  <a:srgbClr val="3D5A73"/>
                </a:solidFill>
                <a:latin typeface="Songti SC"/>
              </a:defRPr>
            </a:pPr>
            <a:r>
              <a:t>三机串列、零偏航：5261.9 kW → 2702.2 kW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692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0" i="1">
                <a:solidFill>
                  <a:srgbClr val="565F67"/>
                </a:solidFill>
                <a:latin typeface="Songti SC"/>
              </a:defRPr>
            </a:pPr>
            <a:r>
              <a:t>先把行业天花板摆在前面，再谈我们自己的位置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10512"/>
            <a:ext cx="416052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10512"/>
            <a:ext cx="45720" cy="3246120"/>
          </a:xfrm>
          <a:prstGeom prst="rect">
            <a:avLst/>
          </a:prstGeom>
          <a:solidFill>
            <a:srgbClr val="8B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956816"/>
            <a:ext cx="3566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5400" b="1" i="0">
                <a:solidFill>
                  <a:srgbClr val="8B5C5C"/>
                </a:solidFill>
                <a:latin typeface="Arial"/>
              </a:defRPr>
            </a:pPr>
            <a:r>
              <a:t>48.6%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962656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50" b="0" i="0">
                <a:solidFill>
                  <a:srgbClr val="565F67"/>
                </a:solidFill>
                <a:latin typeface="Songti SC"/>
              </a:defRPr>
            </a:pPr>
            <a:r>
              <a:t>本项目模拟真值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defRPr sz="1050" b="0" i="0">
                <a:solidFill>
                  <a:srgbClr val="565F67"/>
                </a:solidFill>
                <a:latin typeface="Songti SC"/>
              </a:defRPr>
            </a:pPr>
            <a:r>
              <a:t>1×3 串列 · 无偏航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63931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8B5C5C"/>
                </a:solidFill>
                <a:latin typeface="Songti SC"/>
              </a:defRPr>
            </a:pPr>
            <a:r>
              <a:t>【真值】FLORIS 4.6.6 · GCH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" y="4041648"/>
            <a:ext cx="3520440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169663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真实风场远低于此值——这一条我们自己先说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1810512"/>
            <a:ext cx="6504127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1901952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3D5A73"/>
                </a:solidFill>
                <a:latin typeface="Songti SC"/>
              </a:defRPr>
            </a:pPr>
            <a:r>
              <a:t>国际实测区间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17627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defRPr sz="1050" b="0" i="0">
                <a:solidFill>
                  <a:srgbClr val="12161A"/>
                </a:solidFill>
                <a:latin typeface="Songti SC"/>
              </a:defRPr>
            </a:pPr>
            <a:r>
              <a:t>真实风场未控制尾流损失约 4% – 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78440" y="1901952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850" b="1" i="0">
                <a:solidFill>
                  <a:srgbClr val="8B5C5C"/>
                </a:solidFill>
                <a:latin typeface="Songti SC"/>
              </a:defRPr>
            </a:pPr>
            <a:r>
              <a:t>【外部 · WES 2024】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779776"/>
            <a:ext cx="6504127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2871216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3D5A73"/>
                </a:solidFill>
                <a:latin typeface="Songti SC"/>
              </a:defRPr>
            </a:pPr>
            <a:r>
              <a:t>国际提升上限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14553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defRPr sz="1050" b="0" i="0">
                <a:solidFill>
                  <a:srgbClr val="12161A"/>
                </a:solidFill>
                <a:latin typeface="Songti SC"/>
              </a:defRPr>
            </a:pPr>
            <a:r>
              <a:t>wake steering 年发电量增益 0.4% – 1.7%，60 个场站平均 0.8%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78440" y="2871216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850" b="1" i="0">
                <a:solidFill>
                  <a:srgbClr val="8B5C5C"/>
                </a:solidFill>
                <a:latin typeface="Songti SC"/>
              </a:defRPr>
            </a:pPr>
            <a:r>
              <a:t>【外部 · Bensason 2021】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3749039"/>
            <a:ext cx="6504127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0" y="3840479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3D5A73"/>
                </a:solidFill>
                <a:latin typeface="Songti SC"/>
              </a:defRPr>
            </a:pPr>
            <a:r>
              <a:t>现场实测落差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41148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defRPr sz="1050" b="0" i="0">
                <a:solidFill>
                  <a:srgbClr val="12161A"/>
                </a:solidFill>
                <a:latin typeface="Songti SC"/>
              </a:defRPr>
            </a:pPr>
            <a:r>
              <a:t>只能拿到静态最优的约一半，损失降低 6.4% – 6.6%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78440" y="3840479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850" b="1" i="0">
                <a:solidFill>
                  <a:srgbClr val="8B5C5C"/>
                </a:solidFill>
                <a:latin typeface="Songti SC"/>
              </a:defRPr>
            </a:pPr>
            <a:r>
              <a:t>【外部 · WES 2020/2021】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74959" cy="457200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7" y="5330952"/>
            <a:ext cx="10509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00" b="1" i="0">
                <a:solidFill>
                  <a:srgbClr val="FFFFFF"/>
                </a:solidFill>
                <a:latin typeface="Songti SC"/>
              </a:defRPr>
            </a:pPr>
            <a:r>
              <a:t>我们的判断：不追那个百分比，先把「链路通、口径清、能复现」做出来。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815584"/>
            <a:ext cx="10874959" cy="402336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58978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8B5C5C"/>
                </a:solidFill>
                <a:latin typeface="Songti SC"/>
              </a:defRPr>
            </a:pPr>
            <a:r>
              <a:t>口径：48.6% 是三机串列场景的模拟真值，不得当作实测尾流损失，也不得与外场实测数据并列比较。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428232"/>
            <a:ext cx="9777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多机协同智能功率控制与数字孪生演示 · 中期检查 2026-10 · 汇报人 孙承泽 · 指导教师 李良星 副教授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6355080"/>
            <a:ext cx="10874959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65760"/>
            <a:ext cx="10874959" cy="16459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36047" y="384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565F67"/>
                </a:solidFill>
                <a:latin typeface="Arial"/>
              </a:defRPr>
            </a:pPr>
            <a:r>
              <a:t>04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A08355"/>
                </a:solidFill>
                <a:latin typeface="Arial"/>
              </a:defRPr>
            </a:pPr>
            <a:r>
              <a:t>03 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96862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defRPr sz="2500" b="1" i="0">
                <a:solidFill>
                  <a:srgbClr val="12161A"/>
                </a:solidFill>
                <a:latin typeface="Songti SC"/>
              </a:defRPr>
            </a:pPr>
            <a:r>
              <a:t>偏航，是把尾流推开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692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50" b="1" i="0">
                <a:solidFill>
                  <a:srgbClr val="3D5A73"/>
                </a:solidFill>
                <a:latin typeface="Songti SC"/>
              </a:defRPr>
            </a:pPr>
            <a:r>
              <a:t>十三个真实求解点：统一偏航 −30° 到 +30°，中间没有插值补点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692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0" i="1">
                <a:solidFill>
                  <a:srgbClr val="565F67"/>
                </a:solidFill>
                <a:latin typeface="Songti SC"/>
              </a:defRPr>
            </a:pPr>
            <a:r>
              <a:t>左边是每一度对应的三机功率，右边是全场总功率随偏航角的变化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92224"/>
            <a:ext cx="781812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g1_wake_sweep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19298"/>
            <a:ext cx="7818120" cy="3449171"/>
          </a:xfrm>
          <a:prstGeom prst="rect">
            <a:avLst/>
          </a:prstGeom>
          <a:ln w="9525">
            <a:solidFill>
              <a:srgbClr val="D9DDE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58368" y="5568696"/>
            <a:ext cx="781812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动图 • 13 个真实求解点的统一偏航扫描 + 逐机贪心两步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50808" y="1792224"/>
            <a:ext cx="2782519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50808" y="1792224"/>
            <a:ext cx="41148" cy="841248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33688" y="1883664"/>
            <a:ext cx="24533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3D5A73"/>
                </a:solidFill>
                <a:latin typeface="Songti SC"/>
              </a:defRPr>
            </a:pPr>
            <a:r>
              <a:t>零偏航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3688" y="2121408"/>
            <a:ext cx="24533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300" b="1" i="0">
                <a:solidFill>
                  <a:srgbClr val="12161A"/>
                </a:solidFill>
                <a:latin typeface="Arial"/>
              </a:defRPr>
            </a:pPr>
            <a:r>
              <a:t>2702.2 kW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2395728"/>
            <a:ext cx="24533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基准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50808" y="2706624"/>
            <a:ext cx="2782519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50808" y="2706624"/>
            <a:ext cx="41148" cy="841248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33688" y="2798064"/>
            <a:ext cx="24533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3D5A73"/>
                </a:solidFill>
                <a:latin typeface="Songti SC"/>
              </a:defRPr>
            </a:pPr>
            <a:r>
              <a:t>统一偏航 +20°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3688" y="3035808"/>
            <a:ext cx="24533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300" b="1" i="0">
                <a:solidFill>
                  <a:srgbClr val="12161A"/>
                </a:solidFill>
                <a:latin typeface="Arial"/>
              </a:defRPr>
            </a:pPr>
            <a:r>
              <a:t>3107.1 kW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3688" y="3310128"/>
            <a:ext cx="24533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十三个点里的最好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50808" y="3621024"/>
            <a:ext cx="2782519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50808" y="3621024"/>
            <a:ext cx="41148" cy="841248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33688" y="3712463"/>
            <a:ext cx="24533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3D5A73"/>
                </a:solidFill>
                <a:latin typeface="Songti SC"/>
              </a:defRPr>
            </a:pPr>
            <a:r>
              <a:t>逐机贪心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33688" y="3950208"/>
            <a:ext cx="24533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300" b="1" i="0">
                <a:solidFill>
                  <a:srgbClr val="12161A"/>
                </a:solidFill>
                <a:latin typeface="Arial"/>
              </a:defRPr>
            </a:pPr>
            <a:r>
              <a:t>3299.8 kW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33688" y="4224528"/>
            <a:ext cx="24533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下一步再讲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5815584"/>
            <a:ext cx="10874959" cy="402336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58978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8B5C5C"/>
                </a:solidFill>
                <a:latin typeface="Songti SC"/>
              </a:defRPr>
            </a:pPr>
            <a:r>
              <a:t>【真值】FLORIS 4.6.6 · GCH · 1×3 串列，每个点都是一次真实求解，不是曲线拟合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28232"/>
            <a:ext cx="9777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多机协同智能功率控制与数字孪生演示 · 中期检查 2026-10 · 汇报人 孙承泽 · 指导教师 李良星 副教授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6355080"/>
            <a:ext cx="10874959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65760"/>
            <a:ext cx="10874959" cy="16459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36047" y="384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565F67"/>
                </a:solidFill>
                <a:latin typeface="Arial"/>
              </a:defRPr>
            </a:pPr>
            <a:r>
              <a:t>05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A08355"/>
                </a:solidFill>
                <a:latin typeface="Arial"/>
              </a:defRPr>
            </a:pPr>
            <a:r>
              <a:t>03 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96862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defRPr sz="2500" b="1" i="0">
                <a:solidFill>
                  <a:srgbClr val="12161A"/>
                </a:solidFill>
                <a:latin typeface="Songti SC"/>
              </a:defRPr>
            </a:pPr>
            <a:r>
              <a:t>三台机器，不能是同一个角度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692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50" b="1" i="0">
                <a:solidFill>
                  <a:srgbClr val="3D5A73"/>
                </a:solidFill>
                <a:latin typeface="Songti SC"/>
              </a:defRPr>
            </a:pPr>
            <a:r>
              <a:t>逐机贪心：一步只动一台，每步都重新求解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692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0" i="1">
                <a:solidFill>
                  <a:srgbClr val="565F67"/>
                </a:solidFill>
                <a:latin typeface="Songti SC"/>
              </a:defRPr>
            </a:pPr>
            <a:r>
              <a:t>协同的意思，不是三个角度一样，而是三个角度互相让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395751"/>
            <a:ext cx="3320186" cy="496288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4505479"/>
            <a:ext cx="304586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2400" b="1" i="0">
                <a:solidFill>
                  <a:srgbClr val="12161A"/>
                </a:solidFill>
                <a:latin typeface="Arial"/>
              </a:defRPr>
            </a:pPr>
            <a:r>
              <a:t>2702.2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001768"/>
            <a:ext cx="304586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12161A"/>
                </a:solidFill>
                <a:latin typeface="Songti SC"/>
              </a:defRPr>
            </a:pPr>
            <a:r>
              <a:t>零偏航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8554" y="4343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defRPr sz="2000" b="1" i="0">
                <a:solidFill>
                  <a:srgbClr val="565F67"/>
                </a:solidFill>
                <a:latin typeface="Songti SC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5754" y="3517552"/>
            <a:ext cx="3320186" cy="1374487"/>
          </a:xfrm>
          <a:prstGeom prst="rect">
            <a:avLst/>
          </a:prstGeom>
          <a:solidFill>
            <a:srgbClr val="9AA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2058" y="3627280"/>
            <a:ext cx="304586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2400" b="1" i="0">
                <a:solidFill>
                  <a:srgbClr val="FFFFFF"/>
                </a:solidFill>
                <a:latin typeface="Arial"/>
              </a:defRPr>
            </a:pPr>
            <a:r>
              <a:t>3060.0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2058" y="5001768"/>
            <a:ext cx="304586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12161A"/>
                </a:solidFill>
                <a:latin typeface="Songti SC"/>
              </a:defRPr>
            </a:pPr>
            <a:r>
              <a:t>第 1 步　上风向 +30°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2058" y="5294376"/>
            <a:ext cx="304586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500" b="1" i="0">
                <a:solidFill>
                  <a:srgbClr val="4E6242"/>
                </a:solidFill>
                <a:latin typeface="Arial"/>
              </a:defRPr>
            </a:pPr>
            <a:r>
              <a:t>+13.2%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5940" y="4343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defRPr sz="2000" b="1" i="0">
                <a:solidFill>
                  <a:srgbClr val="565F67"/>
                </a:solidFill>
                <a:latin typeface="Songti SC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13140" y="2928977"/>
            <a:ext cx="3320186" cy="1963062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9444" y="3038705"/>
            <a:ext cx="304586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2400" b="1" i="0">
                <a:solidFill>
                  <a:srgbClr val="FFFFFF"/>
                </a:solidFill>
                <a:latin typeface="Arial"/>
              </a:defRPr>
            </a:pPr>
            <a:r>
              <a:t>3299.8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9444" y="5001768"/>
            <a:ext cx="304586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12161A"/>
                </a:solidFill>
                <a:latin typeface="Songti SC"/>
              </a:defRPr>
            </a:pPr>
            <a:r>
              <a:t>第 2 步　中间 +25°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9444" y="5294376"/>
            <a:ext cx="304586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500" b="1" i="0">
                <a:solidFill>
                  <a:srgbClr val="4E6242"/>
                </a:solidFill>
                <a:latin typeface="Arial"/>
              </a:defRPr>
            </a:pPr>
            <a:r>
              <a:t>+22.11%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892040"/>
            <a:ext cx="10874959" cy="9144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18105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三机总功率 / kW　　零偏航基准线 2702.2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815584"/>
            <a:ext cx="10874959" cy="402336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58978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8B5C5C"/>
                </a:solidFill>
                <a:latin typeface="Songti SC"/>
              </a:defRPr>
            </a:pPr>
            <a:r>
              <a:t>【真值】FLORIS 4.6.6 · tandem3 oracle　·　两步共 4 次真实求解，全程留档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28232"/>
            <a:ext cx="9777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多机协同智能功率控制与数字孪生演示 · 中期检查 2026-10 · 汇报人 孙承泽 · 指导教师 李良星 副教授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355080"/>
            <a:ext cx="10874959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65760"/>
            <a:ext cx="10874959" cy="16459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36047" y="384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565F67"/>
                </a:solidFill>
                <a:latin typeface="Arial"/>
              </a:defRPr>
            </a:pPr>
            <a:r>
              <a:t>06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A08355"/>
                </a:solidFill>
                <a:latin typeface="Arial"/>
              </a:defRPr>
            </a:pPr>
            <a:r>
              <a:t>04 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96862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defRPr sz="2500" b="1" i="0">
                <a:solidFill>
                  <a:srgbClr val="12161A"/>
                </a:solidFill>
                <a:latin typeface="Songti SC"/>
              </a:defRPr>
            </a:pPr>
            <a:r>
              <a:t>一条数据流，串起五段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692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50" b="1" i="0">
                <a:solidFill>
                  <a:srgbClr val="3D5A73"/>
                </a:solidFill>
                <a:latin typeface="Songti SC"/>
              </a:defRPr>
            </a:pPr>
            <a:r>
              <a:t>同一张图上同时画出已经打通的和还弱的，是「系统」和「拼盘」的区别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1911644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45720" cy="1847088"/>
          </a:xfrm>
          <a:prstGeom prst="rect">
            <a:avLst/>
          </a:prstGeom>
          <a:solidFill>
            <a:srgbClr val="4E6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865376"/>
            <a:ext cx="1582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300" b="1" i="0">
                <a:solidFill>
                  <a:srgbClr val="12161A"/>
                </a:solidFill>
                <a:latin typeface="Songti SC"/>
              </a:defRPr>
            </a:pPr>
            <a:r>
              <a:t>来流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94560"/>
            <a:ext cx="15824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合成谱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TI / 风向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816352"/>
            <a:ext cx="15824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4E6242"/>
                </a:solidFill>
                <a:latin typeface="Songti SC"/>
              </a:defRPr>
            </a:pPr>
            <a:r>
              <a:t>已通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072384"/>
            <a:ext cx="15824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00" b="0" i="0">
                <a:solidFill>
                  <a:srgbClr val="565F67"/>
                </a:solidFill>
                <a:latin typeface="Songti SC"/>
              </a:defRPr>
            </a:pPr>
            <a:r>
              <a:t>真实时间序列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24876" y="2670048"/>
            <a:ext cx="219456" cy="10972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99196" y="1755648"/>
            <a:ext cx="1911644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99196" y="1755648"/>
            <a:ext cx="45720" cy="1847088"/>
          </a:xfrm>
          <a:prstGeom prst="rect">
            <a:avLst/>
          </a:prstGeom>
          <a:solidFill>
            <a:srgbClr val="8B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0364" y="1865376"/>
            <a:ext cx="1582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300" b="1" i="0">
                <a:solidFill>
                  <a:srgbClr val="12161A"/>
                </a:solidFill>
                <a:latin typeface="Songti SC"/>
              </a:defRPr>
            </a:pPr>
            <a:r>
              <a:t>代理模型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0364" y="2194560"/>
            <a:ext cx="15824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12 输入 / 6 输出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冻结主干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0364" y="2816352"/>
            <a:ext cx="15824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8B5C5C"/>
                </a:solidFill>
                <a:latin typeface="Songti SC"/>
              </a:defRPr>
            </a:pPr>
            <a:r>
              <a:t>部分通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0364" y="3072384"/>
            <a:ext cx="15824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00" b="0" i="0">
                <a:solidFill>
                  <a:srgbClr val="565F67"/>
                </a:solidFill>
                <a:latin typeface="Songti SC"/>
              </a:defRPr>
            </a:pPr>
            <a:r>
              <a:t>仍是合成标签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65705" y="2670048"/>
            <a:ext cx="219456" cy="10972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40025" y="1755648"/>
            <a:ext cx="1911644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40025" y="1755648"/>
            <a:ext cx="45720" cy="1847088"/>
          </a:xfrm>
          <a:prstGeom prst="rect">
            <a:avLst/>
          </a:prstGeom>
          <a:solidFill>
            <a:srgbClr val="8B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1193" y="1865376"/>
            <a:ext cx="1582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300" b="1" i="0">
                <a:solidFill>
                  <a:srgbClr val="12161A"/>
                </a:solidFill>
                <a:latin typeface="Songti SC"/>
              </a:defRPr>
            </a:pPr>
            <a:r>
              <a:t>协同控制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1193" y="2194560"/>
            <a:ext cx="15824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MADDPG / P / PI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同权对照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1193" y="2816352"/>
            <a:ext cx="15824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8B5C5C"/>
                </a:solidFill>
                <a:latin typeface="Songti SC"/>
              </a:defRPr>
            </a:pPr>
            <a:r>
              <a:t>部分通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1193" y="3072384"/>
            <a:ext cx="15824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00" b="0" i="0">
                <a:solidFill>
                  <a:srgbClr val="565F67"/>
                </a:solidFill>
                <a:latin typeface="Songti SC"/>
              </a:defRPr>
            </a:pPr>
            <a:r>
              <a:t>只开了桨距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06533" y="2670048"/>
            <a:ext cx="219456" cy="10972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0853" y="1755648"/>
            <a:ext cx="1911644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0853" y="1755648"/>
            <a:ext cx="45720" cy="1847088"/>
          </a:xfrm>
          <a:prstGeom prst="rect">
            <a:avLst/>
          </a:prstGeom>
          <a:solidFill>
            <a:srgbClr val="4E6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2021" y="1865376"/>
            <a:ext cx="1582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300" b="1" i="0">
                <a:solidFill>
                  <a:srgbClr val="12161A"/>
                </a:solidFill>
                <a:latin typeface="Songti SC"/>
              </a:defRPr>
            </a:pPr>
            <a:r>
              <a:t>统一执行器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2021" y="2194560"/>
            <a:ext cx="15824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偏航 / 桨距 / 转速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速率与量程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2021" y="2816352"/>
            <a:ext cx="15824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4E6242"/>
                </a:solidFill>
                <a:latin typeface="Songti SC"/>
              </a:defRPr>
            </a:pPr>
            <a:r>
              <a:t>已通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2021" y="3072384"/>
            <a:ext cx="15824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00" b="0" i="0">
                <a:solidFill>
                  <a:srgbClr val="565F67"/>
                </a:solidFill>
                <a:latin typeface="Songti SC"/>
              </a:defRPr>
            </a:pPr>
            <a:r>
              <a:t>三种控制器共用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47362" y="2670048"/>
            <a:ext cx="219456" cy="10972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21682" y="1755648"/>
            <a:ext cx="1911644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21682" y="1755648"/>
            <a:ext cx="45720" cy="1847088"/>
          </a:xfrm>
          <a:prstGeom prst="rect">
            <a:avLst/>
          </a:prstGeom>
          <a:solidFill>
            <a:srgbClr val="4E6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22850" y="1865376"/>
            <a:ext cx="1582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300" b="1" i="0">
                <a:solidFill>
                  <a:srgbClr val="12161A"/>
                </a:solidFill>
                <a:latin typeface="Songti SC"/>
              </a:defRPr>
            </a:pPr>
            <a:r>
              <a:t>数字孪生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2850" y="2194560"/>
            <a:ext cx="15824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1×3 实时渲染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七步闭环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2850" y="2816352"/>
            <a:ext cx="15824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4E6242"/>
                </a:solidFill>
                <a:latin typeface="Songti SC"/>
              </a:defRPr>
            </a:pPr>
            <a:r>
              <a:t>已通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2850" y="3072384"/>
            <a:ext cx="15824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00" b="0" i="0">
                <a:solidFill>
                  <a:srgbClr val="565F67"/>
                </a:solidFill>
                <a:latin typeface="Songti SC"/>
              </a:defRPr>
            </a:pPr>
            <a:r>
              <a:t>接真值 oracle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3803904"/>
            <a:ext cx="340553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3803904"/>
            <a:ext cx="3405530" cy="41148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7" y="3931920"/>
            <a:ext cx="307634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00" b="1" i="0">
                <a:solidFill>
                  <a:srgbClr val="3D5A73"/>
                </a:solidFill>
                <a:latin typeface="Songti SC"/>
              </a:defRPr>
            </a:pPr>
            <a:r>
              <a:t>一套字段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7" y="4224528"/>
            <a:ext cx="307634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十二维输入、六维输出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两侧共同冻结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93082" y="3803904"/>
            <a:ext cx="340553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93082" y="3803904"/>
            <a:ext cx="3405530" cy="41148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5962" y="3931920"/>
            <a:ext cx="307634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00" b="1" i="0">
                <a:solidFill>
                  <a:srgbClr val="3D5A73"/>
                </a:solidFill>
                <a:latin typeface="Songti SC"/>
              </a:defRPr>
            </a:pPr>
            <a:r>
              <a:t>一套场景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5962" y="4224528"/>
            <a:ext cx="307634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同一随机入口、同一执行器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三种控制器完全同权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27796" y="3803904"/>
            <a:ext cx="340553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27796" y="3803904"/>
            <a:ext cx="3405530" cy="41148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10676" y="3931920"/>
            <a:ext cx="307634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00" b="1" i="0">
                <a:solidFill>
                  <a:srgbClr val="3D5A73"/>
                </a:solidFill>
                <a:latin typeface="Songti SC"/>
              </a:defRPr>
            </a:pPr>
            <a:r>
              <a:t>一套证据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10676" y="4224528"/>
            <a:ext cx="307634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轨迹、指标、校验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三件套同时落盘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5193792"/>
            <a:ext cx="1087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分工：厉今飞（模型与接口）· 洪祖名（控制与对照）· 田铭雨（仿真）· 袁夫达（建模口径）· 孙承泽（集成与复现）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" y="5815584"/>
            <a:ext cx="10874959" cy="402336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59" y="58978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8B5C5C"/>
                </a:solidFill>
                <a:latin typeface="Songti SC"/>
              </a:defRPr>
            </a:pPr>
            <a:r>
              <a:t>两处褐色是本轮的真实短板：代理模型仍是合成标签，控制只开了桨距。我们不把褐色画成绿色。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6428232"/>
            <a:ext cx="9777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多机协同智能功率控制与数字孪生演示 · 中期检查 2026-10 · 汇报人 孙承泽 · 指导教师 李良星 副教授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6355080"/>
            <a:ext cx="10874959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65760"/>
            <a:ext cx="10874959" cy="16459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36047" y="384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565F67"/>
                </a:solidFill>
                <a:latin typeface="Arial"/>
              </a:defRPr>
            </a:pPr>
            <a:r>
              <a:t>07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A08355"/>
                </a:solidFill>
                <a:latin typeface="Arial"/>
              </a:defRPr>
            </a:pPr>
            <a:r>
              <a:t>04 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96862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defRPr sz="2500" b="1" i="0">
                <a:solidFill>
                  <a:srgbClr val="12161A"/>
                </a:solidFill>
                <a:latin typeface="Songti SC"/>
              </a:defRPr>
            </a:pPr>
            <a:r>
              <a:t>七步，闭环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692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50" b="1" i="0">
                <a:solidFill>
                  <a:srgbClr val="3D5A73"/>
                </a:solidFill>
                <a:latin typeface="Songti SC"/>
              </a:defRPr>
            </a:pPr>
            <a:r>
              <a:t>选工况 → 看基准 → 调航向 → 求解 → 复核 → 可靠性 → 导出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692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0" i="1">
                <a:solidFill>
                  <a:srgbClr val="565F67"/>
                </a:solidFill>
                <a:latin typeface="Songti SC"/>
              </a:defRPr>
            </a:pPr>
            <a:r>
              <a:t>不是录像，是我们系统自己的循环；讲完我可以当场再跑一遍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92224"/>
            <a:ext cx="781812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g2_seven_step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864" y="1792224"/>
            <a:ext cx="6591127" cy="3703320"/>
          </a:xfrm>
          <a:prstGeom prst="rect">
            <a:avLst/>
          </a:prstGeom>
          <a:ln w="9525">
            <a:solidFill>
              <a:srgbClr val="D9DDE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58368" y="5568696"/>
            <a:ext cx="781812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动图 • 七步流程的真实截图，共 7 帧循环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50808" y="1792224"/>
            <a:ext cx="2782519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50808" y="1792224"/>
            <a:ext cx="41148" cy="841248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33688" y="1883664"/>
            <a:ext cx="24533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3D5A73"/>
                </a:solidFill>
                <a:latin typeface="Songti SC"/>
              </a:defRPr>
            </a:pPr>
            <a:r>
              <a:t>第五步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3688" y="2121408"/>
            <a:ext cx="24533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300" b="1" i="0">
                <a:solidFill>
                  <a:srgbClr val="12161A"/>
                </a:solidFill>
                <a:latin typeface="Arial"/>
              </a:defRPr>
            </a:pPr>
            <a:r>
              <a:t>优化前后速度场并排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2395728"/>
            <a:ext cx="24533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尾流核被推开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50808" y="2706624"/>
            <a:ext cx="2782519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50808" y="2706624"/>
            <a:ext cx="41148" cy="841248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33688" y="2798064"/>
            <a:ext cx="24533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3D5A73"/>
                </a:solidFill>
                <a:latin typeface="Songti SC"/>
              </a:defRPr>
            </a:pPr>
            <a:r>
              <a:t>功率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3688" y="3035808"/>
            <a:ext cx="24533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300" b="1" i="0">
                <a:solidFill>
                  <a:srgbClr val="12161A"/>
                </a:solidFill>
                <a:latin typeface="Arial"/>
              </a:defRPr>
            </a:pPr>
            <a:r>
              <a:t>2702.2 → 3299.8 kW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3688" y="3310128"/>
            <a:ext cx="24533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+22.11%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50808" y="3621024"/>
            <a:ext cx="2782519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50808" y="3621024"/>
            <a:ext cx="41148" cy="841248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33688" y="3712463"/>
            <a:ext cx="24533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3D5A73"/>
                </a:solidFill>
                <a:latin typeface="Songti SC"/>
              </a:defRPr>
            </a:pPr>
            <a:r>
              <a:t>单步耗时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33688" y="3950208"/>
            <a:ext cx="24533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300" b="1" i="0">
                <a:solidFill>
                  <a:srgbClr val="12161A"/>
                </a:solidFill>
                <a:latin typeface="Arial"/>
              </a:defRPr>
            </a:pPr>
            <a:r>
              <a:t>2 – 8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33688" y="4224528"/>
            <a:ext cx="24533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稳态求解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5815584"/>
            <a:ext cx="10874959" cy="402336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58978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8B5C5C"/>
                </a:solidFill>
                <a:latin typeface="Songti SC"/>
              </a:defRPr>
            </a:pPr>
            <a:r>
              <a:t>【真值】oracle 与浏览器内核逐式对拍，差值 1.25×10⁻¹² kW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28232"/>
            <a:ext cx="9777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多机协同智能功率控制与数字孪生演示 · 中期检查 2026-10 · 汇报人 孙承泽 · 指导教师 李良星 副教授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6355080"/>
            <a:ext cx="10874959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65760"/>
            <a:ext cx="10874959" cy="16459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36047" y="384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565F67"/>
                </a:solidFill>
                <a:latin typeface="Arial"/>
              </a:defRPr>
            </a:pPr>
            <a:r>
              <a:t>08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A08355"/>
                </a:solidFill>
                <a:latin typeface="Arial"/>
              </a:defRPr>
            </a:pPr>
            <a:r>
              <a:t>05 跨模块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96862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defRPr sz="2500" b="1" i="0">
                <a:solidFill>
                  <a:srgbClr val="12161A"/>
                </a:solidFill>
                <a:latin typeface="Songti SC"/>
              </a:defRPr>
            </a:pPr>
            <a:r>
              <a:t>把队友的模型，接进我们的接口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692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50" b="1" i="0">
                <a:solidFill>
                  <a:srgbClr val="3D5A73"/>
                </a:solidFill>
                <a:latin typeface="Songti SC"/>
              </a:defRPr>
            </a:pPr>
            <a:r>
              <a:t>冻结主干，只训新增的 0.79% 参数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692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0" i="1">
                <a:solidFill>
                  <a:srgbClr val="565F67"/>
                </a:solidFill>
                <a:latin typeface="Songti SC"/>
              </a:defRPr>
            </a:pPr>
            <a:r>
              <a:t>三千零九十万个参数里，只动两万四千三百零六个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810512"/>
          <a:ext cx="56692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196596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3D5A73"/>
                          </a:solidFill>
                          <a:latin typeface="Songti SC"/>
                        </a:rPr>
                        <a:t>层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3D5A73"/>
                          </a:solidFill>
                          <a:latin typeface="Songti SC"/>
                        </a:rPr>
                        <a:t>参数量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3D5A73"/>
                          </a:solidFill>
                          <a:latin typeface="Songti SC"/>
                        </a:rPr>
                        <a:t>状态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原模型总量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3,090,200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—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保留的隐藏层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3,087,200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冻结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新增控制输入连接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6,300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可训练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新六输出层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18,006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可训练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4E6242"/>
                          </a:solidFill>
                          <a:latin typeface="Songti SC"/>
                        </a:rPr>
                        <a:t>合计可训练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4E6242"/>
                          </a:solidFill>
                          <a:latin typeface="Songti SC"/>
                        </a:rPr>
                        <a:t>24,306（≈0.79%）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4E6242"/>
                          </a:solidFill>
                          <a:latin typeface="Songti SC"/>
                        </a:rPr>
                        <a:t>本轮训练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64807" y="1810512"/>
            <a:ext cx="5068519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399" y="1920240"/>
            <a:ext cx="475762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800" b="1" i="0">
                <a:solidFill>
                  <a:srgbClr val="3D5A73"/>
                </a:solidFill>
                <a:latin typeface="Arial"/>
              </a:defRPr>
            </a:pPr>
            <a:r>
              <a:t>18.14 / 1.69 kW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399" y="2322576"/>
            <a:ext cx="475762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低 / 中目标验证误差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64807" y="2798064"/>
            <a:ext cx="5068519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399" y="2907792"/>
            <a:ext cx="475762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800" b="1" i="0">
                <a:solidFill>
                  <a:srgbClr val="3D5A73"/>
                </a:solidFill>
                <a:latin typeface="Arial"/>
              </a:defRPr>
            </a:pPr>
            <a:r>
              <a:t>2.306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399" y="3310128"/>
            <a:ext cx="475762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高目标最终/选中误差比，按门槛停止晋级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3767328"/>
            <a:ext cx="5068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00" b="1" i="0">
                <a:solidFill>
                  <a:srgbClr val="8B5C5C"/>
                </a:solidFill>
                <a:latin typeface="Songti SC"/>
              </a:defRPr>
            </a:pPr>
            <a:r>
              <a:t>【代理】合成标签训练，不是 CFD，也不是实测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059935"/>
            <a:ext cx="108749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1" i="0">
                <a:solidFill>
                  <a:srgbClr val="12161A"/>
                </a:solidFill>
                <a:latin typeface="Songti SC"/>
              </a:defRPr>
            </a:pPr>
            <a:r>
              <a:t>改动面：99.21% 冻结，其余冻结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315968"/>
            <a:ext cx="10874959" cy="237744"/>
          </a:xfrm>
          <a:prstGeom prst="rect">
            <a:avLst/>
          </a:prstGeom>
          <a:solidFill>
            <a:srgbClr val="E4E7EA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47415" y="4315968"/>
            <a:ext cx="85912" cy="237744"/>
          </a:xfrm>
          <a:prstGeom prst="rect">
            <a:avLst/>
          </a:prstGeom>
          <a:solidFill>
            <a:srgbClr val="8B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43434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冻结主干　3,087,200 参数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590288"/>
            <a:ext cx="108749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8B5C5C"/>
                </a:solidFill>
                <a:latin typeface="Songti SC"/>
              </a:defRPr>
            </a:pPr>
            <a:r>
              <a:t>赭红色块为可训练部分（示意放大，真实占比 0.79%）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956048"/>
            <a:ext cx="108749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950">
                <a:solidFill>
                  <a:srgbClr val="565F67"/>
                </a:solidFill>
                <a:latin typeface="Songti SC"/>
              </a:rPr>
              <a:t>输入 12 维：风速 / 风向 / TI + 三机 × 偏航失配角 · 桨距角 · 转速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950">
                <a:solidFill>
                  <a:srgbClr val="565F67"/>
                </a:solidFill>
                <a:latin typeface="Songti SC"/>
              </a:rPr>
              <a:t>输出 6 维：三机功率 + 三机有效风速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950">
                <a:solidFill>
                  <a:srgbClr val="565F67"/>
                </a:solidFill>
                <a:latin typeface="Songti SC"/>
              </a:rPr>
              <a:t>换成别的队友模型同样适用：冻结主干 + 新增输入连接 + 新输出头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28232"/>
            <a:ext cx="9777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多机协同智能功率控制与数字孪生演示 · 中期检查 2026-10 · 汇报人 孙承泽 · 指导教师 李良星 副教授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55080"/>
            <a:ext cx="10874959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65760"/>
            <a:ext cx="10874959" cy="16459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36047" y="384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565F67"/>
                </a:solidFill>
                <a:latin typeface="Arial"/>
              </a:defRPr>
            </a:pPr>
            <a:r>
              <a:t>09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A08355"/>
                </a:solidFill>
                <a:latin typeface="Arial"/>
              </a:defRPr>
            </a:pPr>
            <a:r>
              <a:t>05 跨模块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96862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defRPr sz="2500" b="1" i="0">
                <a:solidFill>
                  <a:srgbClr val="12161A"/>
                </a:solidFill>
                <a:latin typeface="Songti SC"/>
              </a:defRPr>
            </a:pPr>
            <a:r>
              <a:t>三类入口，同一套口径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692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50" b="1" i="0">
                <a:solidFill>
                  <a:srgbClr val="3D5A73"/>
                </a:solidFill>
                <a:latin typeface="Songti SC"/>
              </a:defRPr>
            </a:pPr>
            <a:r>
              <a:t>平稳湍流 · 慢变风向 · 阵风：训练和测试不能只靠一个风况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692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0" i="1">
                <a:solidFill>
                  <a:srgbClr val="565F67"/>
                </a:solidFill>
                <a:latin typeface="Songti SC"/>
              </a:defRPr>
            </a:pPr>
            <a:r>
              <a:t>左边三条线是真实时间序列，不是示意图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92224"/>
            <a:ext cx="781812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g3_inflow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54992"/>
            <a:ext cx="7818120" cy="3577784"/>
          </a:xfrm>
          <a:prstGeom prst="rect">
            <a:avLst/>
          </a:prstGeom>
          <a:ln w="9525">
            <a:solidFill>
              <a:srgbClr val="D9DDE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58368" y="5568696"/>
            <a:ext cx="781812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动图 • 三类入口各 129 个时间样本，同步推进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50808" y="1792224"/>
            <a:ext cx="2782519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50808" y="1792224"/>
            <a:ext cx="41148" cy="841248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33688" y="1883664"/>
            <a:ext cx="24533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3D5A73"/>
                </a:solidFill>
                <a:latin typeface="Songti SC"/>
              </a:defRPr>
            </a:pPr>
            <a:r>
              <a:t>平稳湍流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3688" y="2121408"/>
            <a:ext cx="24533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300" b="1" i="0">
                <a:solidFill>
                  <a:srgbClr val="12161A"/>
                </a:solidFill>
                <a:latin typeface="Arial"/>
              </a:defRPr>
            </a:pPr>
            <a:r>
              <a:t>TI 4% / 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2395728"/>
            <a:ext cx="24533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对照组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50808" y="2706624"/>
            <a:ext cx="2782519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50808" y="2706624"/>
            <a:ext cx="41148" cy="841248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33688" y="2798064"/>
            <a:ext cx="24533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3D5A73"/>
                </a:solidFill>
                <a:latin typeface="Songti SC"/>
              </a:defRPr>
            </a:pPr>
            <a:r>
              <a:t>慢变风向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3688" y="3035808"/>
            <a:ext cx="24533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300" b="1" i="0">
                <a:solidFill>
                  <a:srgbClr val="12161A"/>
                </a:solidFill>
                <a:latin typeface="Arial"/>
              </a:defRPr>
            </a:pPr>
            <a:r>
              <a:t>风向缓慢偏转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3688" y="3310128"/>
            <a:ext cx="24533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我们的第一个短板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50808" y="3621024"/>
            <a:ext cx="2782519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50808" y="3621024"/>
            <a:ext cx="41148" cy="841248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33688" y="3712463"/>
            <a:ext cx="24533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3D5A73"/>
                </a:solidFill>
                <a:latin typeface="Songti SC"/>
              </a:defRPr>
            </a:pPr>
            <a:r>
              <a:t>阵风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33688" y="3950208"/>
            <a:ext cx="24533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300" b="1" i="0">
                <a:solidFill>
                  <a:srgbClr val="12161A"/>
                </a:solidFill>
                <a:latin typeface="Arial"/>
              </a:defRPr>
            </a:pPr>
            <a:r>
              <a:t>短时突风叠加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33688" y="4224528"/>
            <a:ext cx="24533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我们的第二个短板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5815584"/>
            <a:ext cx="10874959" cy="402336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58978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8B5C5C"/>
                </a:solidFill>
                <a:latin typeface="Songti SC"/>
              </a:defRPr>
            </a:pPr>
            <a:r>
              <a:t>【实测】场景库文件，每一例都可复算；测试集与训练集分离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28232"/>
            <a:ext cx="9777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多机协同智能功率控制与数字孪生演示 · 中期检查 2026-10 · 汇报人 孙承泽 · 指导教师 李良星 副教授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6355080"/>
            <a:ext cx="10874959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65760"/>
            <a:ext cx="10874959" cy="16459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36047" y="384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565F67"/>
                </a:solidFill>
                <a:latin typeface="Arial"/>
              </a:defRPr>
            </a:pPr>
            <a:r>
              <a:t>10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A08355"/>
                </a:solidFill>
                <a:latin typeface="Arial"/>
              </a:defRPr>
            </a:pPr>
            <a:r>
              <a:t>05 跨模块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96862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defRPr sz="2500" b="1" i="0">
                <a:solidFill>
                  <a:srgbClr val="12161A"/>
                </a:solidFill>
                <a:latin typeface="Songti SC"/>
              </a:defRPr>
            </a:pPr>
            <a:r>
              <a:t>把「公平」做成代码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692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50" b="1" i="0">
                <a:solidFill>
                  <a:srgbClr val="3D5A73"/>
                </a:solidFill>
                <a:latin typeface="Songti SC"/>
              </a:defRPr>
            </a:pPr>
            <a:r>
              <a:t>执行器抽成公共模块：算法只给目标值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692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0" i="1">
                <a:solidFill>
                  <a:srgbClr val="565F67"/>
                </a:solidFill>
                <a:latin typeface="Songti SC"/>
              </a:defRPr>
            </a:pPr>
            <a:r>
              <a:t>避免「学的方法能瞬移、传统方法被限速」的伪对比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10512"/>
            <a:ext cx="5382615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10512"/>
            <a:ext cx="5382615" cy="45720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38528"/>
            <a:ext cx="5016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50" b="1" i="0">
                <a:solidFill>
                  <a:srgbClr val="3D5A73"/>
                </a:solidFill>
                <a:latin typeface="Songti SC"/>
              </a:defRPr>
            </a:pPr>
            <a:r>
              <a:t>算法只给三样东西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2432304"/>
            <a:ext cx="54864" cy="54864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2340864"/>
            <a:ext cx="4742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50" b="0" i="0">
                <a:solidFill>
                  <a:srgbClr val="12161A"/>
                </a:solidFill>
                <a:latin typeface="Songti SC"/>
              </a:defRPr>
            </a:pPr>
            <a:r>
              <a:t>三机偏航目标角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2999232"/>
            <a:ext cx="54864" cy="54864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2907792"/>
            <a:ext cx="4742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50" b="0" i="0">
                <a:solidFill>
                  <a:srgbClr val="12161A"/>
                </a:solidFill>
                <a:latin typeface="Songti SC"/>
              </a:defRPr>
            </a:pPr>
            <a:r>
              <a:t>三机桨距目标角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3566160"/>
            <a:ext cx="54864" cy="54864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3474720"/>
            <a:ext cx="4742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50" b="0" i="0">
                <a:solidFill>
                  <a:srgbClr val="12161A"/>
                </a:solidFill>
                <a:latin typeface="Songti SC"/>
              </a:defRPr>
            </a:pPr>
            <a:r>
              <a:t>三机转速目标值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0711" y="1810512"/>
            <a:ext cx="5382615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50711" y="1810512"/>
            <a:ext cx="5382615" cy="45720"/>
          </a:xfrm>
          <a:prstGeom prst="rect">
            <a:avLst/>
          </a:prstGeom>
          <a:solidFill>
            <a:srgbClr val="8B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0167" y="1938528"/>
            <a:ext cx="5016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50" b="1" i="0">
                <a:solidFill>
                  <a:srgbClr val="8B5C5C"/>
                </a:solidFill>
                <a:latin typeface="Songti SC"/>
              </a:defRPr>
            </a:pPr>
            <a:r>
              <a:t>执行器统一施加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88455" y="2432304"/>
            <a:ext cx="54864" cy="54864"/>
          </a:xfrm>
          <a:prstGeom prst="rect">
            <a:avLst/>
          </a:prstGeom>
          <a:solidFill>
            <a:srgbClr val="8B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047" y="2340864"/>
            <a:ext cx="4742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50" b="0" i="0">
                <a:solidFill>
                  <a:srgbClr val="12161A"/>
                </a:solidFill>
                <a:latin typeface="Songti SC"/>
              </a:defRPr>
            </a:pPr>
            <a:r>
              <a:t>转速变化率上限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88455" y="2999232"/>
            <a:ext cx="54864" cy="54864"/>
          </a:xfrm>
          <a:prstGeom prst="rect">
            <a:avLst/>
          </a:prstGeom>
          <a:solidFill>
            <a:srgbClr val="8B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047" y="2907792"/>
            <a:ext cx="4742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50" b="0" i="0">
                <a:solidFill>
                  <a:srgbClr val="12161A"/>
                </a:solidFill>
                <a:latin typeface="Songti SC"/>
              </a:defRPr>
            </a:pPr>
            <a:r>
              <a:t>桨距速率与时间常数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88455" y="3566160"/>
            <a:ext cx="54864" cy="54864"/>
          </a:xfrm>
          <a:prstGeom prst="rect">
            <a:avLst/>
          </a:prstGeom>
          <a:solidFill>
            <a:srgbClr val="8B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047" y="3474720"/>
            <a:ext cx="4742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50" b="0" i="0">
                <a:solidFill>
                  <a:srgbClr val="12161A"/>
                </a:solidFill>
                <a:latin typeface="Songti SC"/>
              </a:defRPr>
            </a:pPr>
            <a:r>
              <a:t>偏航速率与量程约束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700016"/>
            <a:ext cx="10874959" cy="475488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" y="4809744"/>
            <a:ext cx="10509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50" b="1" i="0">
                <a:solidFill>
                  <a:srgbClr val="FFFFFF"/>
                </a:solidFill>
                <a:latin typeface="Songti SC"/>
              </a:defRPr>
            </a:pPr>
            <a:r>
              <a:t>同一套场景、同一套执行器、同一套评价口径：P、PI、MADDPG 完全同权。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815584"/>
            <a:ext cx="10874959" cy="402336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" y="58978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8B5C5C"/>
                </a:solidFill>
                <a:latin typeface="Songti SC"/>
              </a:defRPr>
            </a:pPr>
            <a:r>
              <a:t>边界：执行器参数为联调假设，不是实际机型标定值；这一条我们自己先说。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28232"/>
            <a:ext cx="9777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多机协同智能功率控制与数字孪生演示 · 中期检查 2026-10 · 汇报人 孙承泽 · 指导教师 李良星 副教授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6355080"/>
            <a:ext cx="10874959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65760"/>
            <a:ext cx="10874959" cy="16459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36047" y="384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565F67"/>
                </a:solidFill>
                <a:latin typeface="Arial"/>
              </a:defRPr>
            </a:pPr>
            <a:r>
              <a:t>11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A08355"/>
                </a:solidFill>
                <a:latin typeface="Arial"/>
              </a:defRPr>
            </a:pPr>
            <a:r>
              <a:t>06 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96862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defRPr sz="2500" b="1" i="0">
                <a:solidFill>
                  <a:srgbClr val="12161A"/>
                </a:solidFill>
                <a:latin typeface="Songti SC"/>
              </a:defRPr>
            </a:pPr>
            <a:r>
              <a:t>学习确实发生了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692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50" b="1" i="0">
                <a:solidFill>
                  <a:srgbClr val="3D5A73"/>
                </a:solidFill>
                <a:latin typeface="Songti SC"/>
              </a:defRPr>
            </a:pPr>
            <a:r>
              <a:t>三条独立训练流，误差都在降，但都没过我们自己定的门槛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692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0" i="1">
                <a:solidFill>
                  <a:srgbClr val="565F67"/>
                </a:solidFill>
                <a:latin typeface="Songti SC"/>
              </a:defRPr>
            </a:pPr>
            <a:r>
              <a:t>主种子派生三条流，各 16,384 步，共 49,152 步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810512"/>
          <a:ext cx="56692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3D5A73"/>
                          </a:solidFill>
                          <a:latin typeface="Songti SC"/>
                        </a:rPr>
                        <a:t>训练流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3D5A73"/>
                          </a:solidFill>
                          <a:latin typeface="Songti SC"/>
                        </a:rPr>
                        <a:t>平均验证误差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3D5A73"/>
                          </a:solidFill>
                          <a:latin typeface="Songti SC"/>
                        </a:rPr>
                        <a:t>最大验证误差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流 1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471.79 kW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—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流 2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444.14 kW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—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流 3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433.65 kW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—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4E6242"/>
                          </a:solidFill>
                          <a:latin typeface="Songti SC"/>
                        </a:rPr>
                        <a:t>门槛（约定）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4E6242"/>
                          </a:solidFill>
                          <a:latin typeface="Songti SC"/>
                        </a:rPr>
                        <a:t>400 kW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4E6242"/>
                          </a:solidFill>
                          <a:latin typeface="Songti SC"/>
                        </a:rPr>
                        <a:t>500 kW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64807" y="1810512"/>
            <a:ext cx="5068519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399" y="1920240"/>
            <a:ext cx="475762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800" b="1" i="0">
                <a:solidFill>
                  <a:srgbClr val="3D5A73"/>
                </a:solidFill>
                <a:latin typeface="Arial"/>
              </a:defRPr>
            </a:pPr>
            <a:r>
              <a:t>≈1290 → 434 kW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399" y="2322576"/>
            <a:ext cx="475762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三条流全部下降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64807" y="2798064"/>
            <a:ext cx="5068519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399" y="2907792"/>
            <a:ext cx="475762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800" b="1" i="0">
                <a:solidFill>
                  <a:srgbClr val="3D5A73"/>
                </a:solidFill>
                <a:latin typeface="Arial"/>
              </a:defRPr>
            </a:pPr>
            <a:r>
              <a:t>0 /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399" y="3310128"/>
            <a:ext cx="475762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达标条数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3767328"/>
            <a:ext cx="5068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00" b="1" i="0">
                <a:solidFill>
                  <a:srgbClr val="8B5C5C"/>
                </a:solidFill>
                <a:latin typeface="Songti SC"/>
              </a:defRPr>
            </a:pPr>
            <a:r>
              <a:t>【代理】合成入口 + 合成标签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956048"/>
            <a:ext cx="108749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950">
                <a:solidFill>
                  <a:srgbClr val="565F67"/>
                </a:solidFill>
                <a:latin typeface="Songti SC"/>
              </a:rPr>
              <a:t>结论只有一句：学习有效，验收未通过。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950">
                <a:solidFill>
                  <a:srgbClr val="565F67"/>
                </a:solidFill>
                <a:latin typeface="Songti SC"/>
              </a:rPr>
              <a:t>不写「已收敛」——最终检查点恰好是验证最佳，不证明更长训练仍然稳定。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950">
                <a:solidFill>
                  <a:srgbClr val="565F67"/>
                </a:solidFill>
                <a:latin typeface="Songti SC"/>
              </a:rPr>
              <a:t>因为没过门槛，转速与偏航两个通道按协议不开放学习。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28232"/>
            <a:ext cx="9777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多机协同智能功率控制与数字孪生演示 · 中期检查 2026-10 · 汇报人 孙承泽 · 指导教师 李良星 副教授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355080"/>
            <a:ext cx="10874959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65760"/>
            <a:ext cx="10874959" cy="16459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36047" y="384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565F67"/>
                </a:solidFill>
                <a:latin typeface="Arial"/>
              </a:defRPr>
            </a:pPr>
            <a:r>
              <a:t>12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A08355"/>
                </a:solidFill>
                <a:latin typeface="Arial"/>
              </a:defRPr>
            </a:pPr>
            <a:r>
              <a:t>06 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96862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defRPr sz="2500" b="1" i="0">
                <a:solidFill>
                  <a:srgbClr val="12161A"/>
                </a:solidFill>
                <a:latin typeface="Songti SC"/>
              </a:defRPr>
            </a:pPr>
            <a:r>
              <a:t>同权对照：赢在均值，输在边界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692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50" b="1" i="0">
                <a:solidFill>
                  <a:srgbClr val="3D5A73"/>
                </a:solidFill>
                <a:latin typeface="Songti SC"/>
              </a:defRPr>
            </a:pPr>
            <a:r>
              <a:t>相对初始策略降 58.5%（硬）；相对 PI 再低 5.8%（软）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692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0" i="1">
                <a:solidFill>
                  <a:srgbClr val="565F67"/>
                </a:solidFill>
                <a:latin typeface="Songti SC"/>
              </a:defRPr>
            </a:pPr>
            <a:r>
              <a:t>18 场常规测试的场景 RMSE 均值；± 是三条训练流均值的样本标准差，不是置信区间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810512"/>
          <a:ext cx="47548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103120"/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3D5A73"/>
                          </a:solidFill>
                          <a:latin typeface="Songti SC"/>
                        </a:rPr>
                        <a:t>控制方法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3D5A73"/>
                          </a:solidFill>
                          <a:latin typeface="Songti SC"/>
                        </a:rPr>
                        <a:t>常规平均 RMSE / kW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初始 MADDPG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1083.62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固定桨距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1100.34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P 控制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552.37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4E6242"/>
                          </a:solidFill>
                          <a:latin typeface="Songti SC"/>
                        </a:rPr>
                        <a:t>PI 控制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4E6242"/>
                          </a:solidFill>
                          <a:latin typeface="Songti SC"/>
                        </a:rPr>
                        <a:t>477.54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4E6242"/>
                          </a:solidFill>
                          <a:latin typeface="Songti SC"/>
                        </a:rPr>
                        <a:t>训练后 MADDPG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4E6242"/>
                          </a:solidFill>
                          <a:latin typeface="Songti SC"/>
                        </a:rPr>
                        <a:t>449.72 ± 40.11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239512" y="1810512"/>
            <a:ext cx="3046323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39512" y="1810512"/>
            <a:ext cx="45720" cy="1600200"/>
          </a:xfrm>
          <a:prstGeom prst="rect">
            <a:avLst/>
          </a:prstGeom>
          <a:solidFill>
            <a:srgbClr val="4E6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58968" y="1956816"/>
            <a:ext cx="2680563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3200" b="1" i="0">
                <a:solidFill>
                  <a:srgbClr val="4E6242"/>
                </a:solidFill>
                <a:latin typeface="Arial"/>
              </a:defRPr>
            </a:pPr>
            <a:r>
              <a:t>−58.5%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8968" y="2615184"/>
            <a:ext cx="268056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defRPr sz="1000" b="0" i="0">
                <a:solidFill>
                  <a:srgbClr val="565F67"/>
                </a:solidFill>
                <a:latin typeface="Songti SC"/>
              </a:defRPr>
            </a:pPr>
            <a:r>
              <a:t>误差相对初始策略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58968" y="3090672"/>
            <a:ext cx="26805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1" i="0">
                <a:solidFill>
                  <a:srgbClr val="4E6242"/>
                </a:solidFill>
                <a:latin typeface="Songti SC"/>
              </a:defRPr>
            </a:pPr>
            <a:r>
              <a:t>硬结论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87003" y="1810512"/>
            <a:ext cx="3046323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87003" y="1810512"/>
            <a:ext cx="45720" cy="1600200"/>
          </a:xfrm>
          <a:prstGeom prst="rect">
            <a:avLst/>
          </a:prstGeom>
          <a:solidFill>
            <a:srgbClr val="8B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06459" y="1956816"/>
            <a:ext cx="2680563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3200" b="1" i="0">
                <a:solidFill>
                  <a:srgbClr val="8B5C5C"/>
                </a:solidFill>
                <a:latin typeface="Arial"/>
              </a:defRPr>
            </a:pPr>
            <a:r>
              <a:t>−5.8%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6459" y="2615184"/>
            <a:ext cx="268056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defRPr sz="1000" b="0" i="0">
                <a:solidFill>
                  <a:srgbClr val="565F67"/>
                </a:solidFill>
                <a:latin typeface="Songti SC"/>
              </a:defRPr>
            </a:pPr>
            <a:r>
              <a:t>误差均值再低于 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6459" y="3090672"/>
            <a:ext cx="26805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1" i="0">
                <a:solidFill>
                  <a:srgbClr val="8B5C5C"/>
                </a:solidFill>
                <a:latin typeface="Songti SC"/>
              </a:defRPr>
            </a:pPr>
            <a:r>
              <a:t>软结论，且有一条流输了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9512" y="3621024"/>
            <a:ext cx="62938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950" b="1">
                <a:solidFill>
                  <a:srgbClr val="12161A"/>
                </a:solidFill>
                <a:latin typeface="Songti SC"/>
              </a:rPr>
              <a:t>对评委的一句话</a:t>
            </a:r>
            <a:r>
              <a:rPr sz="950">
                <a:solidFill>
                  <a:srgbClr val="565F67"/>
                </a:solidFill>
                <a:latin typeface="Songti SC"/>
              </a:rPr>
              <a:t>  我们赢在均值、输在边界，所以没把这一页写成结论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950" b="1">
                <a:solidFill>
                  <a:srgbClr val="12161A"/>
                </a:solidFill>
                <a:latin typeface="Songti SC"/>
              </a:rPr>
              <a:t>口径纪律</a:t>
            </a:r>
            <a:r>
              <a:rPr sz="950">
                <a:solidFill>
                  <a:srgbClr val="565F67"/>
                </a:solidFill>
                <a:latin typeface="Songti SC"/>
              </a:rPr>
              <a:t>  误差棒是三条流的样本标准差，不是置信区间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663440"/>
            <a:ext cx="108749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000">
                <a:solidFill>
                  <a:srgbClr val="565F67"/>
                </a:solidFill>
                <a:latin typeface="Songti SC"/>
              </a:rPr>
              <a:t>三条训练流里有一条弱于 PI；慢变与低风高目标两个场景都输。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000">
                <a:solidFill>
                  <a:srgbClr val="565F67"/>
                </a:solidFill>
                <a:latin typeface="Songti SC"/>
              </a:rPr>
              <a:t>所以这一页不写成「MADDPG 优于传统控制」，只写「均值略低、未达显著、跨流不稳」。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815584"/>
            <a:ext cx="10874959" cy="402336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58978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8B5C5C"/>
                </a:solidFill>
                <a:latin typeface="Songti SC"/>
              </a:defRPr>
            </a:pPr>
            <a:r>
              <a:t>措辞纪律：本页不得表述为「MADDPG 优于传统控制」。正确说法是「均值略低、未达统计显著、跨流可靠性不足」。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28232"/>
            <a:ext cx="9777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多机协同智能功率控制与数字孪生演示 · 中期检查 2026-10 · 汇报人 孙承泽 · 指导教师 李良星 副教授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355080"/>
            <a:ext cx="10874959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65760"/>
            <a:ext cx="10874959" cy="16459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36047" y="384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565F67"/>
                </a:solidFill>
                <a:latin typeface="Arial"/>
              </a:defRPr>
            </a:pPr>
            <a:r>
              <a:t>13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A08355"/>
                </a:solidFill>
                <a:latin typeface="Arial"/>
              </a:defRPr>
            </a:pPr>
            <a:r>
              <a:t>06 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96862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defRPr sz="2500" b="1" i="0">
                <a:solidFill>
                  <a:srgbClr val="12161A"/>
                </a:solidFill>
                <a:latin typeface="Songti SC"/>
              </a:defRPr>
            </a:pPr>
            <a:r>
              <a:t>三个输掉的场景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692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50" b="1" i="0">
                <a:solidFill>
                  <a:srgbClr val="3D5A73"/>
                </a:solidFill>
                <a:latin typeface="Songti SC"/>
              </a:defRPr>
            </a:pPr>
            <a:r>
              <a:t>很多组到这一步只报均值。我们偏要把它放上来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692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0" i="1">
                <a:solidFill>
                  <a:srgbClr val="565F67"/>
                </a:solidFill>
                <a:latin typeface="Songti SC"/>
              </a:defRPr>
            </a:pPr>
            <a:r>
              <a:t>负结果不是漏洞，是下一轮的靶子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10512"/>
            <a:ext cx="3478682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10512"/>
            <a:ext cx="3478682" cy="45720"/>
          </a:xfrm>
          <a:prstGeom prst="rect">
            <a:avLst/>
          </a:prstGeom>
          <a:solidFill>
            <a:srgbClr val="8B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56816"/>
            <a:ext cx="307634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defRPr sz="1250" b="1" i="0">
                <a:solidFill>
                  <a:srgbClr val="12161A"/>
                </a:solidFill>
                <a:latin typeface="Songti SC"/>
              </a:defRPr>
            </a:pPr>
            <a:r>
              <a:t>慢变风向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615184"/>
            <a:ext cx="307634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MADDPG / kW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834640"/>
            <a:ext cx="307634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2600" b="1" i="0">
                <a:solidFill>
                  <a:srgbClr val="8B5C5C"/>
                </a:solidFill>
                <a:latin typeface="Arial"/>
              </a:defRPr>
            </a:pPr>
            <a:r>
              <a:t>432.08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383280"/>
            <a:ext cx="307634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50" b="0" i="0">
                <a:solidFill>
                  <a:srgbClr val="565F67"/>
                </a:solidFill>
                <a:latin typeface="Songti SC"/>
              </a:defRPr>
            </a:pPr>
            <a:r>
              <a:t>PI 417.19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712463"/>
            <a:ext cx="307634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3D5A73"/>
                </a:solidFill>
                <a:latin typeface="Songti SC"/>
              </a:defRPr>
            </a:pPr>
            <a:r>
              <a:t>假设：目标条件响应不足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968496"/>
            <a:ext cx="307634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8B5C5C"/>
                </a:solidFill>
                <a:latin typeface="Songti SC"/>
              </a:defRPr>
            </a:pPr>
            <a:r>
              <a:t>差距：输 3.6%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56506" y="1810512"/>
            <a:ext cx="3478682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56506" y="1810512"/>
            <a:ext cx="3478682" cy="45720"/>
          </a:xfrm>
          <a:prstGeom prst="rect">
            <a:avLst/>
          </a:prstGeom>
          <a:solidFill>
            <a:srgbClr val="8B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5962" y="1956816"/>
            <a:ext cx="307634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defRPr sz="1250" b="1" i="0">
                <a:solidFill>
                  <a:srgbClr val="12161A"/>
                </a:solidFill>
                <a:latin typeface="Songti SC"/>
              </a:defRPr>
            </a:pPr>
            <a:r>
              <a:t>低风高目标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defRPr sz="1250" b="1" i="0">
                <a:solidFill>
                  <a:srgbClr val="12161A"/>
                </a:solidFill>
                <a:latin typeface="Songti SC"/>
              </a:defRPr>
            </a:pPr>
            <a:r>
              <a:t>7.6 m/s / 4.4 MW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5962" y="2615184"/>
            <a:ext cx="307634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MADDPG / kW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5962" y="2834640"/>
            <a:ext cx="307634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2600" b="1" i="0">
                <a:solidFill>
                  <a:srgbClr val="8B5C5C"/>
                </a:solidFill>
                <a:latin typeface="Arial"/>
              </a:defRPr>
            </a:pPr>
            <a:r>
              <a:t>1727.89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5962" y="3383280"/>
            <a:ext cx="307634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50" b="0" i="0">
                <a:solidFill>
                  <a:srgbClr val="565F67"/>
                </a:solidFill>
                <a:latin typeface="Songti SC"/>
              </a:defRPr>
            </a:pPr>
            <a:r>
              <a:t>PI 1383.30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5962" y="3712463"/>
            <a:ext cx="307634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3D5A73"/>
                </a:solidFill>
                <a:latin typeface="Songti SC"/>
              </a:defRPr>
            </a:pPr>
            <a:r>
              <a:t>假设：欠功率 + 可达性边界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5962" y="3968496"/>
            <a:ext cx="307634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8B5C5C"/>
                </a:solidFill>
                <a:latin typeface="Songti SC"/>
              </a:defRPr>
            </a:pPr>
            <a:r>
              <a:t>差距：输 25%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54644" y="1810512"/>
            <a:ext cx="3478682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54644" y="1810512"/>
            <a:ext cx="3478682" cy="45720"/>
          </a:xfrm>
          <a:prstGeom prst="rect">
            <a:avLst/>
          </a:prstGeom>
          <a:solidFill>
            <a:srgbClr val="8B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4100" y="1956816"/>
            <a:ext cx="307634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defRPr sz="1250" b="1" i="0">
                <a:solidFill>
                  <a:srgbClr val="12161A"/>
                </a:solidFill>
                <a:latin typeface="Songti SC"/>
              </a:defRPr>
            </a:pPr>
            <a:r>
              <a:t>单条训练流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4100" y="2615184"/>
            <a:ext cx="307634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MADDPG / kW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4100" y="2834640"/>
            <a:ext cx="307634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2600" b="1" i="0">
                <a:solidFill>
                  <a:srgbClr val="8B5C5C"/>
                </a:solidFill>
                <a:latin typeface="Arial"/>
              </a:defRPr>
            </a:pPr>
            <a:r>
              <a:t>高于 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4100" y="3383280"/>
            <a:ext cx="307634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50" b="0" i="0">
                <a:solidFill>
                  <a:srgbClr val="565F67"/>
                </a:solidFill>
                <a:latin typeface="Songti SC"/>
              </a:defRPr>
            </a:pPr>
            <a:r>
              <a:t>PI 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4100" y="3712463"/>
            <a:ext cx="307634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3D5A73"/>
                </a:solidFill>
                <a:latin typeface="Songti SC"/>
              </a:defRPr>
            </a:pPr>
            <a:r>
              <a:t>假设：跨流可靠性未达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4100" y="3968496"/>
            <a:ext cx="307634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8B5C5C"/>
                </a:solidFill>
                <a:latin typeface="Songti SC"/>
              </a:defRPr>
            </a:pPr>
            <a:r>
              <a:t>差距：输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815584"/>
            <a:ext cx="10874959" cy="402336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58978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8B5C5C"/>
                </a:solidFill>
                <a:latin typeface="Songti SC"/>
              </a:defRPr>
            </a:pPr>
            <a:r>
              <a:t>边界：压力场是固定风，不能称为湍流测试；没有全局功率上界证书，不能把全部跟踪损失解释成物理不可达。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28232"/>
            <a:ext cx="9777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多机协同智能功率控制与数字孪生演示 · 中期检查 2026-10 · 汇报人 孙承泽 · 指导教师 李良星 副教授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6355080"/>
            <a:ext cx="10874959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65760"/>
            <a:ext cx="10874959" cy="16459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36047" y="384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565F67"/>
                </a:solidFill>
                <a:latin typeface="Arial"/>
              </a:defRPr>
            </a:pPr>
            <a:r>
              <a:t>14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A08355"/>
                </a:solidFill>
                <a:latin typeface="Arial"/>
              </a:defRPr>
            </a:pPr>
            <a:r>
              <a:t>07 可复现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96862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defRPr sz="2500" b="1" i="0">
                <a:solidFill>
                  <a:srgbClr val="12161A"/>
                </a:solidFill>
                <a:latin typeface="Songti SC"/>
              </a:defRPr>
            </a:pPr>
            <a:r>
              <a:t>凭什么信我们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692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50" b="1" i="0">
                <a:solidFill>
                  <a:srgbClr val="3D5A73"/>
                </a:solidFill>
                <a:latin typeface="Songti SC"/>
              </a:defRPr>
            </a:pPr>
            <a:r>
              <a:t>每一个数字，都能当场往回算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692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0" i="1">
                <a:solidFill>
                  <a:srgbClr val="565F67"/>
                </a:solidFill>
                <a:latin typeface="Songti SC"/>
              </a:defRPr>
            </a:pPr>
            <a:r>
              <a:t>不靠一句「我们做得很认真」，靠四个可以被别人重跑的东西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47088"/>
            <a:ext cx="2567863" cy="19751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47088"/>
            <a:ext cx="2567863" cy="45720"/>
          </a:xfrm>
          <a:prstGeom prst="rect">
            <a:avLst/>
          </a:prstGeom>
          <a:solidFill>
            <a:srgbClr val="4E6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93392"/>
            <a:ext cx="22386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2200" b="1" i="0">
                <a:solidFill>
                  <a:srgbClr val="4E6242"/>
                </a:solidFill>
                <a:latin typeface="Arial"/>
              </a:defRPr>
            </a:pPr>
            <a:r>
              <a:t>161 / 158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688336"/>
            <a:ext cx="2238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两套布局的自检项数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346704"/>
            <a:ext cx="2238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1" i="0">
                <a:solidFill>
                  <a:srgbClr val="12161A"/>
                </a:solidFill>
                <a:latin typeface="Songti SC"/>
              </a:defRPr>
            </a:pPr>
            <a:r>
              <a:t>失败 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7399" y="1847088"/>
            <a:ext cx="2567863" cy="19751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7399" y="1847088"/>
            <a:ext cx="2567863" cy="45720"/>
          </a:xfrm>
          <a:prstGeom prst="rect">
            <a:avLst/>
          </a:prstGeom>
          <a:solidFill>
            <a:srgbClr val="4E6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0279" y="1993392"/>
            <a:ext cx="22386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2600" b="1" i="0">
                <a:solidFill>
                  <a:srgbClr val="4E6242"/>
                </a:solidFill>
                <a:latin typeface="Arial"/>
              </a:defRPr>
            </a:pPr>
            <a:r>
              <a:t>30,720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0279" y="2688336"/>
            <a:ext cx="2238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行轨迹复算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0279" y="3346704"/>
            <a:ext cx="2238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1" i="0">
                <a:solidFill>
                  <a:srgbClr val="12161A"/>
                </a:solidFill>
                <a:latin typeface="Songti SC"/>
              </a:defRPr>
            </a:pPr>
            <a:r>
              <a:t>与原记录差 0 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6431" y="1847088"/>
            <a:ext cx="2567863" cy="19751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6431" y="1847088"/>
            <a:ext cx="2567863" cy="45720"/>
          </a:xfrm>
          <a:prstGeom prst="rect">
            <a:avLst/>
          </a:prstGeom>
          <a:solidFill>
            <a:srgbClr val="4E6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9311" y="1993392"/>
            <a:ext cx="22386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2600" b="1" i="0">
                <a:solidFill>
                  <a:srgbClr val="4E6242"/>
                </a:solidFill>
                <a:latin typeface="Arial"/>
              </a:defRPr>
            </a:pPr>
            <a:r>
              <a:t>10⁻¹²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9311" y="2688336"/>
            <a:ext cx="2238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逐式对拍差值 / kW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9311" y="3346704"/>
            <a:ext cx="2238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1" i="0">
                <a:solidFill>
                  <a:srgbClr val="12161A"/>
                </a:solidFill>
                <a:latin typeface="Songti SC"/>
              </a:defRPr>
            </a:pPr>
            <a:r>
              <a:t>浏览器内核 vs FLORIS 参考值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5463" y="1847088"/>
            <a:ext cx="2567863" cy="19751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65463" y="1847088"/>
            <a:ext cx="2567863" cy="45720"/>
          </a:xfrm>
          <a:prstGeom prst="rect">
            <a:avLst/>
          </a:prstGeom>
          <a:solidFill>
            <a:srgbClr val="4E6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8343" y="1993392"/>
            <a:ext cx="22386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2600" b="1" i="0">
                <a:solidFill>
                  <a:srgbClr val="4E6242"/>
                </a:solidFill>
                <a:latin typeface="Arial"/>
              </a:defRPr>
            </a:pPr>
            <a:r>
              <a:t>R47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8343" y="2688336"/>
            <a:ext cx="2238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迭代轮次编号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8343" y="3346704"/>
            <a:ext cx="2238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1" i="0">
                <a:solidFill>
                  <a:srgbClr val="12161A"/>
                </a:solidFill>
                <a:latin typeface="Songti SC"/>
              </a:defRPr>
            </a:pPr>
            <a:r>
              <a:t>28 份轮次记录，全部留档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041648"/>
            <a:ext cx="10874959" cy="512064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4160520"/>
            <a:ext cx="10509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00" b="1" i="0">
                <a:solidFill>
                  <a:srgbClr val="FFFFFF"/>
                </a:solidFill>
                <a:latin typeface="Songti SC"/>
              </a:defRPr>
            </a:pPr>
            <a:r>
              <a:t>我们共享一个资料空间：从 R11 到 R47，谁提的问题、谁改的、为什么改，全部可回溯。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846320"/>
            <a:ext cx="108749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000" b="1">
                <a:solidFill>
                  <a:srgbClr val="12161A"/>
                </a:solidFill>
                <a:latin typeface="Songti SC"/>
              </a:rPr>
              <a:t>怎么证明</a:t>
            </a:r>
            <a:r>
              <a:rPr sz="1000">
                <a:solidFill>
                  <a:srgbClr val="565F67"/>
                </a:solidFill>
                <a:latin typeface="Songti SC"/>
              </a:rPr>
              <a:t>  评委指定任意一个数字，我们当场重跑，不给截图式的证明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000" b="1">
                <a:solidFill>
                  <a:srgbClr val="12161A"/>
                </a:solidFill>
                <a:latin typeface="Songti SC"/>
              </a:rPr>
              <a:t>代价</a:t>
            </a:r>
            <a:r>
              <a:rPr sz="1000">
                <a:solidFill>
                  <a:srgbClr val="565F67"/>
                </a:solidFill>
                <a:latin typeface="Songti SC"/>
              </a:rPr>
              <a:t>  为此多写了二十余份审计与证据卡，交付节奏比「先做再说」慢——这是主动选择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815584"/>
            <a:ext cx="10874959" cy="402336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58978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8B5C5C"/>
                </a:solidFill>
                <a:latin typeface="Songti SC"/>
              </a:defRPr>
            </a:pPr>
            <a:r>
              <a:t>【实测】以上四项均可在会议室当场重跑；数字以复跑结果为准。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28232"/>
            <a:ext cx="9777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多机协同智能功率控制与数字孪生演示 · 中期检查 2026-10 · 汇报人 孙承泽 · 指导教师 李良星 副教授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6355080"/>
            <a:ext cx="10874959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65760"/>
            <a:ext cx="10874959" cy="16459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36047" y="384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565F67"/>
                </a:solidFill>
                <a:latin typeface="Arial"/>
              </a:defRPr>
            </a:pPr>
            <a:r>
              <a:t>15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A08355"/>
                </a:solidFill>
                <a:latin typeface="Arial"/>
              </a:defRPr>
            </a:pPr>
            <a:r>
              <a:t>07 可复现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96862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defRPr sz="2500" b="1" i="0">
                <a:solidFill>
                  <a:srgbClr val="12161A"/>
                </a:solidFill>
                <a:latin typeface="Songti SC"/>
              </a:defRPr>
            </a:pPr>
            <a:r>
              <a:t>我们自己划的四条线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692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50" b="1" i="0">
                <a:solidFill>
                  <a:srgbClr val="3D5A73"/>
                </a:solidFill>
                <a:latin typeface="Songti SC"/>
              </a:defRPr>
            </a:pPr>
            <a:r>
              <a:t>现在不宣称什么，比宣称什么更能说明我们懂这行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692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0" i="1">
                <a:solidFill>
                  <a:srgbClr val="565F67"/>
                </a:solidFill>
                <a:latin typeface="Songti SC"/>
              </a:defRPr>
            </a:pPr>
            <a:r>
              <a:t>这四条不是被问出来的，是我们自己写在材料里的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810512"/>
          <a:ext cx="106070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383280"/>
                <a:gridCol w="4206240"/>
              </a:tblGrid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3D5A73"/>
                          </a:solidFill>
                          <a:latin typeface="Songti SC"/>
                        </a:rPr>
                        <a:t>现在不宣称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3D5A73"/>
                          </a:solidFill>
                          <a:latin typeface="Songti SC"/>
                        </a:rPr>
                        <a:t>为什么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3D5A73"/>
                          </a:solidFill>
                          <a:latin typeface="Songti SC"/>
                        </a:rPr>
                        <a:t>下一步（可交付）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12161A"/>
                          </a:solidFill>
                          <a:latin typeface="Songti SC"/>
                        </a:rPr>
                        <a:t>真实风场精度 / 发电收益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12161A"/>
                          </a:solidFill>
                          <a:latin typeface="Songti SC"/>
                        </a:rPr>
                        <a:t>入口与标签均为合成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12161A"/>
                          </a:solidFill>
                          <a:latin typeface="Songti SC"/>
                        </a:rPr>
                        <a:t>接实测或 CFD 数据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12161A"/>
                          </a:solidFill>
                          <a:latin typeface="Songti SC"/>
                        </a:rPr>
                        <a:t>三通道协同已学会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12161A"/>
                          </a:solidFill>
                          <a:latin typeface="Songti SC"/>
                        </a:rPr>
                        <a:t>本轮只开放桨距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12161A"/>
                          </a:solidFill>
                          <a:latin typeface="Songti SC"/>
                        </a:rPr>
                        <a:t>先治慢变与欠功率，再放转速 / 偏航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12161A"/>
                          </a:solidFill>
                          <a:latin typeface="Songti SC"/>
                        </a:rPr>
                        <a:t>全局可达性证书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12161A"/>
                          </a:solidFill>
                          <a:latin typeface="Songti SC"/>
                        </a:rPr>
                        <a:t>只做了有限稳态候选扫描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12161A"/>
                          </a:solidFill>
                          <a:latin typeface="Songti SC"/>
                        </a:rPr>
                        <a:t>补齐候选扫描与上界证明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12161A"/>
                          </a:solidFill>
                          <a:latin typeface="Songti SC"/>
                        </a:rPr>
                        <a:t>CFD 算例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12161A"/>
                          </a:solidFill>
                          <a:latin typeface="Songti SC"/>
                        </a:rPr>
                        <a:t>几何非流形，网格内存吃满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12161A"/>
                          </a:solidFill>
                          <a:latin typeface="Songti SC"/>
                        </a:rPr>
                        <a:t>修几何 → 最小复现包 → 单工况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5138928"/>
            <a:ext cx="1087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对应到人：厉今飞（模型与数据）· 洪祖名（控制与诊断）· 田铭雨（CFD）· 袁夫达（建模口径）· 孙承泽（集成与复现）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5815584"/>
            <a:ext cx="10874959" cy="402336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58978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8B5C5C"/>
                </a:solidFill>
                <a:latin typeface="Songti SC"/>
              </a:defRPr>
            </a:pPr>
            <a:r>
              <a:t>这一页不是自我批评，是路线图：四条线对应四个可以交付的下一步，每条都写清了验收标准。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28232"/>
            <a:ext cx="9777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多机协同智能功率控制与数字孪生演示 · 中期检查 2026-10 · 汇报人 孙承泽 · 指导教师 李良星 副教授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6355080"/>
            <a:ext cx="10874959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65760"/>
            <a:ext cx="10874959" cy="16459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36047" y="384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565F67"/>
                </a:solidFill>
                <a:latin typeface="Arial"/>
              </a:defRPr>
            </a:pPr>
            <a:r>
              <a:t>16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A08355"/>
                </a:solidFill>
                <a:latin typeface="Arial"/>
              </a:defRPr>
            </a:pPr>
            <a:r>
              <a:t>08 价值 · 国际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96862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defRPr sz="2500" b="1" i="0">
                <a:solidFill>
                  <a:srgbClr val="12161A"/>
                </a:solidFill>
                <a:latin typeface="Songti SC"/>
              </a:defRPr>
            </a:pPr>
            <a:r>
              <a:t>国际上，这条路的天花板在哪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692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50" b="1" i="0">
                <a:solidFill>
                  <a:srgbClr val="3D5A73"/>
                </a:solidFill>
                <a:latin typeface="Songti SC"/>
              </a:defRPr>
            </a:pPr>
            <a:r>
              <a:t>把国际主流链路，接到「可复现」的边界以内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692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0" i="1">
                <a:solidFill>
                  <a:srgbClr val="565F67"/>
                </a:solidFill>
                <a:latin typeface="Songti SC"/>
              </a:defRPr>
            </a:pPr>
            <a:r>
              <a:t>一个外部事实 → 一个我们的位置 → 一句结论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86803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00" b="0" i="0">
                <a:solidFill>
                  <a:srgbClr val="12161A"/>
                </a:solidFill>
                <a:latin typeface="Songti SC"/>
              </a:defRPr>
            </a:pPr>
            <a:r>
              <a:t>2025 年全球新增风电 164.6 GW，累计 1,299 GW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1828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850" b="1" i="0">
                <a:solidFill>
                  <a:srgbClr val="8B5C5C"/>
                </a:solidFill>
                <a:latin typeface="Songti SC"/>
              </a:defRPr>
            </a:pPr>
            <a:r>
              <a:t>【GWEC 2026】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212848"/>
            <a:ext cx="10874959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395728"/>
            <a:ext cx="86803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00" b="0" i="0">
                <a:solidFill>
                  <a:srgbClr val="12161A"/>
                </a:solidFill>
                <a:latin typeface="Songti SC"/>
              </a:defRPr>
            </a:pPr>
            <a:r>
              <a:t>风场级控制的年发电量增益上限 0.4% – 1.7%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3957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850" b="1" i="0">
                <a:solidFill>
                  <a:srgbClr val="8B5C5C"/>
                </a:solidFill>
                <a:latin typeface="Songti SC"/>
              </a:defRPr>
            </a:pPr>
            <a:r>
              <a:t>【WES 2024】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779776"/>
            <a:ext cx="10874959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962656"/>
            <a:ext cx="86803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00" b="0" i="0">
                <a:solidFill>
                  <a:srgbClr val="12161A"/>
                </a:solidFill>
                <a:latin typeface="Songti SC"/>
              </a:defRPr>
            </a:pPr>
            <a:r>
              <a:t>这些成果出自国家实验室与大型场站，工具链闭环在少数机构手里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296265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850" b="1" i="0">
                <a:solidFill>
                  <a:srgbClr val="8B5C5C"/>
                </a:solidFill>
                <a:latin typeface="Songti SC"/>
              </a:defRPr>
            </a:pPr>
            <a:r>
              <a:t>【行业观察】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346704"/>
            <a:ext cx="10874959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675887"/>
            <a:ext cx="10874959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45720" cy="1170432"/>
          </a:xfrm>
          <a:prstGeom prst="rect">
            <a:avLst/>
          </a:prstGeom>
          <a:solidFill>
            <a:srgbClr val="4E6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785615"/>
            <a:ext cx="104177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4E6242"/>
                </a:solidFill>
                <a:latin typeface="Songti SC"/>
              </a:defRPr>
            </a:pPr>
            <a:r>
              <a:t>我们的位置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059936"/>
            <a:ext cx="10372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defRPr sz="1200" b="0" i="0">
                <a:solidFill>
                  <a:srgbClr val="12161A"/>
                </a:solidFill>
                <a:latin typeface="Songti SC"/>
              </a:defRPr>
            </a:pPr>
            <a:r>
              <a:t>不做新的物理模型，而是把「代理模型 → 协同控制 → 数字孪生 → 可复现验证」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defRPr sz="1200" b="0" i="0">
                <a:solidFill>
                  <a:srgbClr val="12161A"/>
                </a:solidFill>
                <a:latin typeface="Songti SC"/>
              </a:defRPr>
            </a:pPr>
            <a:r>
              <a:t>这条国际主流链路，在一个本科团队里完整跑通、逐式对拍、并留下全部证据。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029200"/>
            <a:ext cx="108749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50" b="1" i="0">
                <a:solidFill>
                  <a:srgbClr val="3D5A73"/>
                </a:solidFill>
                <a:latin typeface="Songti SC"/>
              </a:defRPr>
            </a:pPr>
            <a:r>
              <a:t>我们不说「达到国际水平」，我们说「把国际主流链路做到了可以被复算」。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815584"/>
            <a:ext cx="10874959" cy="402336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58978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8B5C5C"/>
                </a:solidFill>
                <a:latin typeface="Songti SC"/>
              </a:defRPr>
            </a:pPr>
            <a:r>
              <a:t>措辞纪律：不说「达到国际水平」，只说「把国际主流链路做到可复现」。前者无法证明，后者每一项都有文件。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28232"/>
            <a:ext cx="9777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多机协同智能功率控制与数字孪生演示 · 中期检查 2026-10 · 汇报人 孙承泽 · 指导教师 李良星 副教授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6355080"/>
            <a:ext cx="10874959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65760"/>
            <a:ext cx="10874959" cy="16459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36047" y="384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565F67"/>
                </a:solidFill>
                <a:latin typeface="Arial"/>
              </a:defRPr>
            </a:pPr>
            <a:r>
              <a:t>17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A08355"/>
                </a:solidFill>
                <a:latin typeface="Arial"/>
              </a:defRPr>
            </a:pPr>
            <a:r>
              <a:t>08 价值 · 国家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96862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defRPr sz="2500" b="1" i="0">
                <a:solidFill>
                  <a:srgbClr val="12161A"/>
                </a:solidFill>
                <a:latin typeface="Songti SC"/>
              </a:defRPr>
            </a:pPr>
            <a:r>
              <a:t>装机第一之后，下一个问题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692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50" b="1" i="0">
                <a:solidFill>
                  <a:srgbClr val="3D5A73"/>
                </a:solidFill>
                <a:latin typeface="Songti SC"/>
              </a:defRPr>
            </a:pPr>
            <a:r>
              <a:t>六点四亿千瓦之后，怎么让每一阵风多发一点电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692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0" i="1">
                <a:solidFill>
                  <a:srgbClr val="565F67"/>
                </a:solidFill>
                <a:latin typeface="Songti SC"/>
              </a:defRPr>
            </a:pPr>
            <a:r>
              <a:t>能源安全 · 大基地尾流 · 工业软件自主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10512"/>
            <a:ext cx="59436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10512"/>
            <a:ext cx="45720" cy="841248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5681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900" b="1" i="0">
                <a:solidFill>
                  <a:srgbClr val="3D5A73"/>
                </a:solidFill>
                <a:latin typeface="Arial"/>
              </a:defRPr>
            </a:pPr>
            <a:r>
              <a:t>6.4 亿千瓦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408" y="19568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我国风电累计装机，同比 +22.9%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408" y="239572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00" b="1" i="0">
                <a:solidFill>
                  <a:srgbClr val="8B5C5C"/>
                </a:solidFill>
                <a:latin typeface="Songti SC"/>
              </a:defRPr>
            </a:pPr>
            <a:r>
              <a:t>【国家能源局 2026-02】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743200"/>
            <a:ext cx="59436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743200"/>
            <a:ext cx="45720" cy="841248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28895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900" b="1" i="0">
                <a:solidFill>
                  <a:srgbClr val="3D5A73"/>
                </a:solidFill>
                <a:latin typeface="Arial"/>
              </a:defRPr>
            </a:pPr>
            <a:r>
              <a:t>1.2 亿千瓦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4408" y="288950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2025 年新增，其中「三北」占 79%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332841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00" b="1" i="0">
                <a:solidFill>
                  <a:srgbClr val="8B5C5C"/>
                </a:solidFill>
                <a:latin typeface="Songti SC"/>
              </a:defRPr>
            </a:pPr>
            <a:r>
              <a:t>【国家能源局 2026-02】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9436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45720" cy="841248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382219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900" b="1" i="0">
                <a:solidFill>
                  <a:srgbClr val="3D5A73"/>
                </a:solidFill>
                <a:latin typeface="Arial"/>
              </a:defRPr>
            </a:pPr>
            <a:r>
              <a:t>73% / 49.6%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64408" y="382219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中国占全球新增 / 累计装机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64408" y="4261103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00" b="1" i="0">
                <a:solidFill>
                  <a:srgbClr val="8B5C5C"/>
                </a:solidFill>
                <a:latin typeface="Songti SC"/>
              </a:defRPr>
            </a:pPr>
            <a:r>
              <a:t>【GWEC 2026】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84848" y="1810512"/>
            <a:ext cx="4748479" cy="2761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04304" y="1920240"/>
            <a:ext cx="43461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4E6242"/>
                </a:solidFill>
                <a:latin typeface="Songti SC"/>
              </a:defRPr>
            </a:pPr>
            <a:r>
              <a:t>我们的位置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22592" y="2340864"/>
            <a:ext cx="50292" cy="50292"/>
          </a:xfrm>
          <a:prstGeom prst="rect">
            <a:avLst/>
          </a:prstGeom>
          <a:solidFill>
            <a:srgbClr val="4E6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68896" y="2249424"/>
            <a:ext cx="410839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行业真问题：大基地集中连片，尾流放大，而设计验证工具长期是买来的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22592" y="3090672"/>
            <a:ext cx="50292" cy="50292"/>
          </a:xfrm>
          <a:prstGeom prst="rect">
            <a:avLst/>
          </a:prstGeom>
          <a:solidFill>
            <a:srgbClr val="4E6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68896" y="2999232"/>
            <a:ext cx="410839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技术栈：开源内核 + 自研对拍 + 浏览器端孪生，不依赖任何商业许可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22592" y="3840479"/>
            <a:ext cx="50292" cy="50292"/>
          </a:xfrm>
          <a:prstGeom prst="rect">
            <a:avLst/>
          </a:prstGeom>
          <a:solidFill>
            <a:srgbClr val="4E6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68896" y="3749039"/>
            <a:ext cx="410839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可迁移：高校与中小整机厂可以直接复用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718304"/>
            <a:ext cx="10874959" cy="457200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" y="4818888"/>
            <a:ext cx="10509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00" b="1" i="0">
                <a:solidFill>
                  <a:srgbClr val="FFFFFF"/>
                </a:solidFill>
                <a:latin typeface="Songti SC"/>
              </a:defRPr>
            </a:pPr>
            <a:r>
              <a:t>它离工业级很远。但方向是：能自己看见，能自己验证。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815584"/>
            <a:ext cx="10874959" cy="402336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59" y="58978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8B5C5C"/>
                </a:solidFill>
                <a:latin typeface="Songti SC"/>
              </a:defRPr>
            </a:pPr>
            <a:r>
              <a:t>措辞纪律：不说「替代国外商业软件」，只说「不依赖商业许可的验证环境」。说替代，一定会被追问到崩。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28232"/>
            <a:ext cx="9777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多机协同智能功率控制与数字孪生演示 · 中期检查 2026-10 · 汇报人 孙承泽 · 指导教师 李良星 副教授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355080"/>
            <a:ext cx="10874959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65760"/>
            <a:ext cx="10874959" cy="16459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36047" y="384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565F67"/>
                </a:solidFill>
                <a:latin typeface="Arial"/>
              </a:defRPr>
            </a:pPr>
            <a:r>
              <a:t>18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A08355"/>
                </a:solidFill>
                <a:latin typeface="Arial"/>
              </a:defRPr>
            </a:pPr>
            <a:r>
              <a:t>08 价值 · 社会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96862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defRPr sz="2500" b="1" i="0">
                <a:solidFill>
                  <a:srgbClr val="12161A"/>
                </a:solidFill>
                <a:latin typeface="Songti SC"/>
              </a:defRPr>
            </a:pPr>
            <a:r>
              <a:t>同样的风，更少的弃风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692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50" b="1" i="0">
                <a:solidFill>
                  <a:srgbClr val="3D5A73"/>
                </a:solidFill>
                <a:latin typeface="Songti SC"/>
              </a:defRPr>
            </a:pPr>
            <a:r>
              <a:t>电价 · 教育 · 科研诚信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847088"/>
            <a:ext cx="3472586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847088"/>
            <a:ext cx="3472586" cy="45720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93392"/>
            <a:ext cx="30702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50" b="1" i="0">
                <a:solidFill>
                  <a:srgbClr val="3D5A73"/>
                </a:solidFill>
                <a:latin typeface="Songti SC"/>
              </a:defRPr>
            </a:pPr>
            <a:r>
              <a:t>电价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377440"/>
            <a:ext cx="307025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defRPr sz="1050" b="0" i="0">
                <a:solidFill>
                  <a:srgbClr val="12161A"/>
                </a:solidFill>
                <a:latin typeface="Songti SC"/>
              </a:defRPr>
            </a:pPr>
            <a:r>
              <a:t>wake steering 的收益增益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defRPr sz="1050" b="0" i="0">
                <a:solidFill>
                  <a:srgbClr val="12161A"/>
                </a:solidFill>
                <a:latin typeface="Songti SC"/>
              </a:defRPr>
            </a:pPr>
            <a:r>
              <a:t>比能量增益还高约 4%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" y="3255264"/>
            <a:ext cx="3033674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364992"/>
            <a:ext cx="307025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多发的那部分电，落在高价时段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133087"/>
            <a:ext cx="307025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1" i="0">
                <a:solidFill>
                  <a:srgbClr val="8B5C5C"/>
                </a:solidFill>
                <a:latin typeface="Songti SC"/>
              </a:defRPr>
            </a:pPr>
            <a:r>
              <a:t>【外部 · WES 2024】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59554" y="1847088"/>
            <a:ext cx="3472586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59554" y="1847088"/>
            <a:ext cx="3472586" cy="45720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9010" y="1993392"/>
            <a:ext cx="30702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50" b="1" i="0">
                <a:solidFill>
                  <a:srgbClr val="3D5A73"/>
                </a:solidFill>
                <a:latin typeface="Songti SC"/>
              </a:defRPr>
            </a:pPr>
            <a:r>
              <a:t>教育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9010" y="2377440"/>
            <a:ext cx="307025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defRPr sz="1050" b="0" i="0">
                <a:solidFill>
                  <a:srgbClr val="12161A"/>
                </a:solidFill>
                <a:latin typeface="Songti SC"/>
              </a:defRPr>
            </a:pPr>
            <a:r>
              <a:t>全链路留档：数据、模型、控制、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defRPr sz="1050" b="0" i="0">
                <a:solidFill>
                  <a:srgbClr val="12161A"/>
                </a:solidFill>
                <a:latin typeface="Songti SC"/>
              </a:defRPr>
            </a:pPr>
            <a:r>
              <a:t>可视化、复现，每一步可回溯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9010" y="3255264"/>
            <a:ext cx="3033674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9010" y="3364992"/>
            <a:ext cx="307025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可直接作为本科生科研训练的模板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9010" y="4133087"/>
            <a:ext cx="307025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1" i="0">
                <a:solidFill>
                  <a:srgbClr val="8B5C5C"/>
                </a:solidFill>
                <a:latin typeface="Songti SC"/>
              </a:defRPr>
            </a:pPr>
            <a:r>
              <a:t>【实测 · 资料空间】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0740" y="1847088"/>
            <a:ext cx="3472586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60740" y="1847088"/>
            <a:ext cx="3472586" cy="45720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0196" y="1993392"/>
            <a:ext cx="30702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50" b="1" i="0">
                <a:solidFill>
                  <a:srgbClr val="3D5A73"/>
                </a:solidFill>
                <a:latin typeface="Songti SC"/>
              </a:defRPr>
            </a:pPr>
            <a:r>
              <a:t>诚信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196" y="2377440"/>
            <a:ext cx="307025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defRPr sz="1050" b="0" i="0">
                <a:solidFill>
                  <a:srgbClr val="12161A"/>
                </a:solidFill>
                <a:latin typeface="Songti SC"/>
              </a:defRPr>
            </a:pPr>
            <a:r>
              <a:t>主动报告失败场景与未过门槛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80196" y="3255264"/>
            <a:ext cx="3033674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0196" y="3364992"/>
            <a:ext cx="307025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这是这次答辩里最想留下的示范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0196" y="4133087"/>
            <a:ext cx="307025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1" i="0">
                <a:solidFill>
                  <a:srgbClr val="8B5C5C"/>
                </a:solidFill>
                <a:latin typeface="Songti SC"/>
              </a:defRPr>
            </a:pPr>
            <a:r>
              <a:t>【自述 · 本项目做法】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791456"/>
            <a:ext cx="108749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300" b="1" i="0">
                <a:solidFill>
                  <a:srgbClr val="12161A"/>
                </a:solidFill>
                <a:latin typeface="Songti SC"/>
              </a:defRPr>
            </a:pPr>
            <a:r>
              <a:t>同样的风，更少的弃风；同样的课，更可复用的模板。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815584"/>
            <a:ext cx="10874959" cy="402336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58978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8B5C5C"/>
                </a:solidFill>
                <a:latin typeface="Songti SC"/>
              </a:defRPr>
            </a:pPr>
            <a:r>
              <a:t>这一页不放新数字：所有数据都在前面出现过，或者标了外部来源。升华靠结论，不靠加码。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428232"/>
            <a:ext cx="9777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多机协同智能功率控制与数字孪生演示 · 中期检查 2026-10 · 汇报人 孙承泽 · 指导教师 李良星 副教授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6355080"/>
            <a:ext cx="10874959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65760"/>
            <a:ext cx="10874959" cy="16459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36047" y="384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565F67"/>
                </a:solidFill>
                <a:latin typeface="Arial"/>
              </a:defRPr>
            </a:pPr>
            <a:r>
              <a:t>19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A08355"/>
                </a:solidFill>
                <a:latin typeface="Arial"/>
              </a:defRPr>
            </a:pPr>
            <a:r>
              <a:t>09 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96862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defRPr sz="2500" b="1" i="0">
                <a:solidFill>
                  <a:srgbClr val="12161A"/>
                </a:solidFill>
                <a:latin typeface="Songti SC"/>
              </a:defRPr>
            </a:pPr>
            <a:r>
              <a:t>中期不是终点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692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50" b="1" i="0">
                <a:solidFill>
                  <a:srgbClr val="3D5A73"/>
                </a:solidFill>
                <a:latin typeface="Songti SC"/>
              </a:defRPr>
            </a:pPr>
            <a:r>
              <a:t>下一轮三件事，做完这套系统才配叫「风场级」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810512"/>
            <a:ext cx="3478682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810512"/>
            <a:ext cx="3478682" cy="45720"/>
          </a:xfrm>
          <a:prstGeom prst="rect">
            <a:avLst/>
          </a:prstGeom>
          <a:solidFill>
            <a:srgbClr val="A08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56816"/>
            <a:ext cx="307634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2400" b="1" i="0">
                <a:solidFill>
                  <a:srgbClr val="A08355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432304"/>
            <a:ext cx="307634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defRPr sz="1300" b="1" i="0">
                <a:solidFill>
                  <a:srgbClr val="12161A"/>
                </a:solidFill>
                <a:latin typeface="Songti SC"/>
              </a:defRPr>
            </a:pPr>
            <a:r>
              <a:t>把另外两个通道打开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944368"/>
            <a:ext cx="307634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转速 + 偏航，先治慢变与欠功率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" y="3675887"/>
            <a:ext cx="3039770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803904"/>
            <a:ext cx="307634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4E6242"/>
                </a:solidFill>
                <a:latin typeface="Songti SC"/>
              </a:defRPr>
            </a:pPr>
            <a:r>
              <a:t>目标：跨流不再有输给 PI 的场景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5610" y="3017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defRPr sz="1800" b="1" i="0">
                <a:solidFill>
                  <a:srgbClr val="565F67"/>
                </a:solidFill>
                <a:latin typeface="Songti SC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56506" y="1810512"/>
            <a:ext cx="3478682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6506" y="1810512"/>
            <a:ext cx="3478682" cy="45720"/>
          </a:xfrm>
          <a:prstGeom prst="rect">
            <a:avLst/>
          </a:prstGeom>
          <a:solidFill>
            <a:srgbClr val="A08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5962" y="1956816"/>
            <a:ext cx="307634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2400" b="1" i="0">
                <a:solidFill>
                  <a:srgbClr val="A0835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5962" y="2432304"/>
            <a:ext cx="307634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defRPr sz="1300" b="1" i="0">
                <a:solidFill>
                  <a:srgbClr val="12161A"/>
                </a:solidFill>
                <a:latin typeface="Songti SC"/>
              </a:defRPr>
            </a:pPr>
            <a:r>
              <a:t>把入口换成真数据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5962" y="2944368"/>
            <a:ext cx="307634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实测 SCADA 或 CFD，替代合成谱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5962" y="3675887"/>
            <a:ext cx="3039770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5962" y="3803904"/>
            <a:ext cx="307634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4E6242"/>
                </a:solidFill>
                <a:latin typeface="Songti SC"/>
              </a:defRPr>
            </a:pPr>
            <a:r>
              <a:t>目标：给精度一个能被检验的交代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3748" y="3017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defRPr sz="1800" b="1" i="0">
                <a:solidFill>
                  <a:srgbClr val="565F67"/>
                </a:solidFill>
                <a:latin typeface="Songti SC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54644" y="1810512"/>
            <a:ext cx="3478682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54644" y="1810512"/>
            <a:ext cx="3478682" cy="45720"/>
          </a:xfrm>
          <a:prstGeom prst="rect">
            <a:avLst/>
          </a:prstGeom>
          <a:solidFill>
            <a:srgbClr val="A08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4100" y="1956816"/>
            <a:ext cx="307634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2400" b="1" i="0">
                <a:solidFill>
                  <a:srgbClr val="A08355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4100" y="2432304"/>
            <a:ext cx="307634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defRPr sz="1300" b="1" i="0">
                <a:solidFill>
                  <a:srgbClr val="12161A"/>
                </a:solidFill>
                <a:latin typeface="Songti SC"/>
              </a:defRPr>
            </a:pPr>
            <a:r>
              <a:t>把可达性从扫描变成证明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4100" y="2944368"/>
            <a:ext cx="307634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补齐候选扫描与功率上界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4100" y="3675887"/>
            <a:ext cx="3039770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4100" y="3803904"/>
            <a:ext cx="307634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4E6242"/>
                </a:solidFill>
                <a:latin typeface="Songti SC"/>
              </a:defRPr>
            </a:pPr>
            <a:r>
              <a:t>目标：说清哪部分损失是物理不可达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46320"/>
            <a:ext cx="10874959" cy="475488"/>
          </a:xfrm>
          <a:prstGeom prst="rect">
            <a:avLst/>
          </a:prstGeom>
          <a:solidFill>
            <a:srgbClr val="A08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" y="4956048"/>
            <a:ext cx="10509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00" b="1" i="0">
                <a:solidFill>
                  <a:srgbClr val="FFFFFF"/>
                </a:solidFill>
                <a:latin typeface="Songti SC"/>
              </a:defRPr>
            </a:pPr>
            <a:r>
              <a:t>我们不打算靠增加控制通道去刷平均值，我们打算把输的那三个场景一个一个拿回来。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815584"/>
            <a:ext cx="10874959" cy="402336"/>
          </a:xfrm>
          <a:prstGeom prst="rect">
            <a:avLst/>
          </a:prstGeom>
          <a:solidFill>
            <a:srgbClr val="EEE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58978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8B5C5C"/>
                </a:solidFill>
                <a:latin typeface="Songti SC"/>
              </a:defRPr>
            </a:pPr>
            <a:r>
              <a:t>这三件事都写进了下一轮的验收：不做完，不宣称。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28232"/>
            <a:ext cx="9777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多机协同智能功率控制与数字孪生演示 · 中期检查 2026-10 · 汇报人 孙承泽 · 指导教师 李良星 副教授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6355080"/>
            <a:ext cx="10874959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los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3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114800"/>
          </a:xfrm>
          <a:prstGeom prst="rect">
            <a:avLst/>
          </a:prstGeom>
          <a:solidFill>
            <a:srgbClr val="0B1013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36047" y="384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B4BCC2"/>
                </a:solidFill>
                <a:latin typeface="Arial"/>
              </a:defRPr>
            </a:pPr>
            <a:r>
              <a:t>20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8749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defRPr sz="2900" b="1" i="0">
                <a:solidFill>
                  <a:srgbClr val="FFFFFF"/>
                </a:solidFill>
                <a:latin typeface="Songti SC"/>
              </a:defRPr>
            </a:pPr>
            <a:r>
              <a:t>我们没做出一个漂亮的数字，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65376"/>
            <a:ext cx="108749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defRPr sz="2900" b="1" i="0">
                <a:solidFill>
                  <a:srgbClr val="FFFFFF"/>
                </a:solidFill>
                <a:latin typeface="Songti SC"/>
              </a:defRPr>
            </a:pPr>
            <a:r>
              <a:t>我们做出了一件可以被检查的东西。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761488"/>
            <a:ext cx="2377440" cy="10972"/>
          </a:xfrm>
          <a:prstGeom prst="rect">
            <a:avLst/>
          </a:prstGeom>
          <a:solidFill>
            <a:srgbClr val="A08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980944"/>
            <a:ext cx="10874959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defRPr sz="2700" b="1" i="0">
                <a:solidFill>
                  <a:srgbClr val="A08355"/>
                </a:solidFill>
                <a:latin typeface="Songti SC"/>
              </a:defRPr>
            </a:pPr>
            <a:r>
              <a:t>中国的风，应当由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529584"/>
            <a:ext cx="10874959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defRPr sz="2700" b="1" i="0">
                <a:solidFill>
                  <a:srgbClr val="A08355"/>
                </a:solidFill>
                <a:latin typeface="Songti SC"/>
              </a:defRPr>
            </a:pPr>
            <a:r>
              <a:t>中国人自己的算法来驾驭。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681728"/>
            <a:ext cx="10874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300" b="0" i="0">
                <a:solidFill>
                  <a:srgbClr val="F2F4F6"/>
                </a:solidFill>
                <a:latin typeface="Songti SC"/>
              </a:defRPr>
            </a:pPr>
            <a:r>
              <a:t>感谢各位老师。欢迎提问，也欢迎质疑。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5504688"/>
            <a:ext cx="10874959" cy="10972"/>
          </a:xfrm>
          <a:prstGeom prst="rect">
            <a:avLst/>
          </a:prstGeom>
          <a:solidFill>
            <a:srgbClr val="3A4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5650992"/>
            <a:ext cx="1087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B4BCC2"/>
                </a:solidFill>
                <a:latin typeface="Songti SC"/>
              </a:defRPr>
            </a:pPr>
            <a:r>
              <a:t>多机协同智能功率控制与数字孪生演示 · 中期检查 · 2026 年 10 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961888"/>
            <a:ext cx="1087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B4BCC2"/>
                </a:solidFill>
                <a:latin typeface="Songti SC"/>
              </a:defRPr>
            </a:pPr>
            <a:r>
              <a:t>孙承泽　厉今飞　袁夫达　田铭雨　洪祖名　｜　指导教师　李良星 副教授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