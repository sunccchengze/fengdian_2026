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页 · 目标 12 秒 · 口播 54 字】</a:t>
            </a:r>
          </a:p>
          <a:p/>
          <a:p>
            <a:r>
              <a:t>各位老师好，我是孙承泽。七分钟，我只讲一件事：我们把风场级协同控制这条链路，做成了一个能跑、能被复算的系统。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页 · 目标 34 秒 · 口播 141 字】</a:t>
            </a:r>
          </a:p>
          <a:p/>
          <a:p>
            <a:r>
              <a:t>先给四个数字。十二维输入、六维输出，接口已经打通；三机跟踪误差从一千零八十三点六二降到四百四十九点七二，降了百分之五十八点五；两套布局自检，一百六十一项和一百五十八项，零失败；三万零七百二十行轨迹重算一遍，和原始记录差零瓦。前两个是模型结果，后两个是工程事实，这两类我们全程分开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页 · 目标 38 秒 · 口播 140 字】</a:t>
            </a:r>
          </a:p>
          <a:p/>
          <a:p>
            <a:r>
              <a:t>三台机器串列、零偏航，全场两千七百零二点二千瓦；把尾流去掉是五千二百六十二，将近一半被尾流吃掉，四十八点六。但我不拿这个数讲效果：国际上真实风场实测只有百分之四到二十，所有控制手段的年发电量增益只有百分之零点四到一点七，现场还只能拿到一半。所以我们的目标从一开始就不是那个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页 · 目标 46 秒 · 口播 177 字】</a:t>
            </a:r>
          </a:p>
          <a:p/>
          <a:p>
            <a:r>
              <a:t>怎么把电拿回来？偏航，把尾流推离下风向的机器。右边是十三个真实求解点，一个点一个点算出来的，没有插值。零度两千七百零二，二十度三千一百零七，提升约百分之十五。但请注意：到正负三十度反而掉回三千——偏航本身也在损失上风向的出力，不是偏得越多越好。继续一台一台让：上风向先偏三十度到三千零六十，再让中间那台偏二十五度，三千二百九十九点八，百分之二十二点一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页 · 目标 28 秒 · 口播 98 字】</a:t>
            </a:r>
          </a:p>
          <a:p/>
          <a:p>
            <a:r>
              <a:t>这五段是一条数据流：来流、代理模型、协同控制、统一执行器、数字孪生。绿色是通的，褐色是还弱的——代理模型还是合成标签，控制只开了桨距。把通的和没通的画在同一张图上，才是系统，不是五份作业订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页 · 目标 30 秒 · 口播 126 字】</a:t>
            </a:r>
          </a:p>
          <a:p/>
          <a:p>
            <a:r>
              <a:t>七步闭环：选工况、看基准、调航向、求解、复核、可靠性、导出。每一步都能回退重来，每次运行都落成文件。第五步是优化前后的速度场并排，尾流核被推开了。单步两到八毫秒，所以敢当场跑——这也是我们和很多演示的区别：别人放录像，我们是现算。讲完我也可以再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页 · 目标 28 秒 · 口播 104 字】</a:t>
            </a:r>
          </a:p>
          <a:p/>
          <a:p>
            <a:r>
              <a:t>队友的模型原来是九输入，我们接到十二维。没有重训：冻结主干，只训新增的连接和输出头，三千零九十万个参数里只动两万四千三百零六个，百分之零点七九。低中目标误差十八点一四和一点六九千瓦；高目标我们主动停在门槛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页 · 目标 32 秒 · 口播 120 字】</a:t>
            </a:r>
          </a:p>
          <a:p/>
          <a:p>
            <a:r>
              <a:t>同权对照。三类入口、统一执行器、同一套口径，三种控制器完全同权。初始一千零八十三点六二，PI 四百七十七点五四，我们四百四十九点七二。相对初始降百分之五十八点五，这是硬结论；相对 PI 只低百分之五点八，这是软结论，而且三条流里有一条输了。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9 页 · 目标 28 秒 · 口播 113 字】</a:t>
            </a:r>
          </a:p>
          <a:p/>
          <a:p>
            <a:r>
              <a:t>所以有三张卡。慢变风向，我们四百三十二，PI 四百一十七；低风高目标，一千七百二十八对一千三百八十三；还有一条训练流整体弱于 PI。很多组到这一步只报均值。我们把它放上来——如果连我们自己都不敢看失败场景，这套系统就没人能信。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 · 目标 32 秒 · 口播 119 字】</a:t>
            </a:r>
          </a:p>
          <a:p/>
          <a:p>
            <a:r>
              <a:t>凭什么信？两套布局自检一百六十一和一百五十八项，零失败；三万零七百二十行轨迹复算差零瓦；逐式对拍差十的负十二次方千瓦；二十八份轮次记录都在共享资料空间里。同时我们自己划了四条不宣称的线：真实风场精度、三通道协同、可达性证书、CFD 算例。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页 · 目标 38 秒 · 口播 179 字】</a:t>
            </a:r>
          </a:p>
          <a:p/>
          <a:p>
            <a:r>
              <a:t>再往上看两层。国际上，去年全球新增一百六十四点六吉瓦，累计一千二百九十九，可风场级控制的年发电量增益上限只有百分之零点四到一点七，而且成果和工具链都闭环在少数机构手里。我们做不了他们的规模，但我们把这条链路做到了可以被复算。国内，六点四亿千瓦、去年新增一点二亿、三北占七成九；而设计验证这些控制的工具，长期是买来的。这就是我们的位置：能自己看见，能自己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12 页 · 目标 34 秒 · 口播 149 字】</a:t>
            </a:r>
          </a:p>
          <a:p/>
          <a:p>
            <a:r>
              <a:t>再往下落到人。电价上，wake steering 的收益增益比能量增益还高约百分之四，因为多发的那部分电正好落在高价时段；教育上，全链路留档可以直接做本科生的科研训练模板；诚信上，我们主动报了失败。下一步三件事：打开转速和偏航、把入口换成真数据、把可达性从扫描做成证明。做完，这套系统才配叫风场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13 页 · 目标 26 秒 · 口播 98 字】</a:t>
            </a:r>
          </a:p>
          <a:p/>
          <a:p>
            <a:r>
              <a:t>最后两句话。我们没做出一个漂亮的数字，我们做出了一件可以被检查的东西。我们这一代人学风电，起点是买来的软件；终点，应该是我们自己写出来的软件。中国的风，应当由中国人自己的算法来驾驭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B1013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88720"/>
            <a:ext cx="54864" cy="278892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5214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A08355"/>
                </a:solidFill>
                <a:latin typeface="Songti SC"/>
              </a:defRPr>
            </a:pPr>
            <a:r>
              <a:t>国家级大学生创新创业训练计划 · 中期检查 · 2026 年 10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defRPr sz="4000" b="1" i="0">
                <a:solidFill>
                  <a:srgbClr val="FFFFFF"/>
                </a:solidFill>
                <a:latin typeface="Songti SC"/>
              </a:defRPr>
            </a:pPr>
            <a:r>
              <a:t>多机协同智能功率控制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defRPr sz="4000" b="1" i="0">
                <a:solidFill>
                  <a:srgbClr val="FFFFFF"/>
                </a:solidFill>
                <a:latin typeface="Songti SC"/>
              </a:defRPr>
            </a:pPr>
            <a:r>
              <a:t>与数字孪生演示平台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0" i="0">
                <a:solidFill>
                  <a:srgbClr val="B4BCC2"/>
                </a:solidFill>
                <a:latin typeface="Songti SC"/>
              </a:defRPr>
            </a:pPr>
            <a:r>
              <a:t>从代理模型到协同控制，从数字孪生到可复现闭环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50208"/>
            <a:ext cx="4572000" cy="9144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600"/>
              </a:spcBef>
              <a:defRPr sz="1050" b="0" i="0">
                <a:solidFill>
                  <a:srgbClr val="B4BCC2"/>
                </a:solidFill>
                <a:latin typeface="Songti SC"/>
              </a:defRPr>
            </a:pPr>
            <a:r>
              <a:t>汇报人　孙承泽　　指导教师　李良星 副教授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defRPr sz="1050" b="0" i="0">
                <a:solidFill>
                  <a:srgbClr val="B4BCC2"/>
                </a:solidFill>
                <a:latin typeface="Songti SC"/>
              </a:defRPr>
            </a:pPr>
            <a:r>
              <a:t>团队　厉今飞（项目负责人 / AI）· 袁夫达（建模）· 田铭雨（仿真）· 洪祖名（优化控制）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西安交通大学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01 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四个数字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接口通没通 · 学习有没有效 · 系统稳不稳 · 结果能不能被算回来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前两个是模型结果，后两个是工程事实——这两类，我们全程分开说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45720" cy="197510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94560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3D5A73"/>
                </a:solidFill>
                <a:latin typeface="Arial"/>
              </a:defRPr>
            </a:pPr>
            <a:r>
              <a:t>12 →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44368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十二维来流与控制输入 → 六维功率与有效风速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【接口】接口已打通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011680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011680"/>
            <a:ext cx="45720" cy="197510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3D5A73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44368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三机跟踪误差 1083.62 → 449.72 kW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【模型结果】相对初始策略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151376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151376"/>
            <a:ext cx="45720" cy="1975104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34256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4E6242"/>
                </a:solidFill>
                <a:latin typeface="Arial"/>
              </a:defRPr>
            </a:pPr>
            <a:r>
              <a:t>161 / 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5084064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两套布局的自检项数，失败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614416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【自检】工程事实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4151376"/>
            <a:ext cx="5358384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4151376"/>
            <a:ext cx="45720" cy="1975104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34256"/>
            <a:ext cx="4809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4000" b="1" i="0">
                <a:solidFill>
                  <a:srgbClr val="4E6242"/>
                </a:solidFill>
                <a:latin typeface="Arial"/>
              </a:defRPr>
            </a:pPr>
            <a:r>
              <a:t>0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84064"/>
            <a:ext cx="4855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30,720 行轨迹复算与原始记录的差值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614416"/>
            <a:ext cx="4855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【复算】工程事实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说明：前两格是模型结果，后两格是工程事实。所有页面沿用它——模型结果不说成实测，工程事实不吹成效果。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02 问题的量级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尾流吃掉的，是一半的电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三机串列、零偏航：5261.9 kW → 2702.2 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先把行业天花板摆在前面，再谈我们自己的位置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41605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45720" cy="32461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56816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5400" b="1" i="0">
                <a:solidFill>
                  <a:srgbClr val="8B5C5C"/>
                </a:solidFill>
                <a:latin typeface="Arial"/>
              </a:defRPr>
            </a:pPr>
            <a:r>
              <a:t>48.6%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6265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本项目模拟真值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1×3 串列 · 无偏航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6393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【真值】FLORIS 4.6.6 · GCH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4041648"/>
            <a:ext cx="352044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真实风场远低于此值——这一条我们自己先说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810512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019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国际实测区间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762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真实风场未控制尾流损失约 4% –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9019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779776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87121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国际提升上限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455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wake steering 年发电量增益 0.4% – 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87121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Bensason 2021】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49039"/>
            <a:ext cx="650412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8404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3D5A73"/>
                </a:solidFill>
                <a:latin typeface="Songti SC"/>
              </a:defRPr>
            </a:pPr>
            <a:r>
              <a:t>现场实测落差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50" b="0" i="0">
                <a:solidFill>
                  <a:srgbClr val="12161A"/>
                </a:solidFill>
                <a:latin typeface="Songti SC"/>
              </a:defRPr>
            </a:pPr>
            <a:r>
              <a:t>只能拿到静态最优的约一半，损失降低 6.4% – 6.6%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84047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2020/2021】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533095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我们的判断：不追那个百分比，先把「链路通、口径清、能复现」做出来。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口径：48.6% 是三机串列场景的模拟真值，不得当作实测尾流损失，也不得与外场实测数据并列比较。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03 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偏航，是把尾流推开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十三个真实求解点：−30° 到 +30°，中间没有插值补点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左边是每个角度对应的三机功率，右边是全场总功率随偏航角的变化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7818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g1_wake_swee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19298"/>
            <a:ext cx="7818120" cy="3449171"/>
          </a:xfrm>
          <a:prstGeom prst="rect">
            <a:avLst/>
          </a:prstGeom>
          <a:ln w="9525">
            <a:solidFill>
              <a:srgbClr val="D9DD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568696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动图 • 13 个真实求解点 + 末两帧的逐机贪心两步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7922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17922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8836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零偏航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214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2702.2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3957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7066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0808" y="27066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7980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统一偏航 +20°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0358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3107.1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3101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十三个点里的最好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36210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0808" y="36210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712463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逐机贪心 30° / 25° / 0°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9502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3299.8 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2245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+22.11%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【真值】FLORIS 4.6.6 · GCH · 1×3 串列，每个点都是一次真实求解，不是曲线拟合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04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一条数据流，串起五段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同一张图上同时画出已经打通的和还弱的，是「系统」和「拼盘」的区别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合成谱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TI / 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真实时间序列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876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9196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9196" y="1755648"/>
            <a:ext cx="45720" cy="1847088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0364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代理模型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0364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12 输入 / 6 输出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冻结主干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0364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0364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仍是合成标签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5705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0025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40025" y="1755648"/>
            <a:ext cx="45720" cy="1847088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1193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协同控制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1193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MADDPG / P / PI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同权对照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1193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1193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只开了桨距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6533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0853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0853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2021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统一执行器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021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偏航 / 桨距 / 转速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速率与量程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2021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2021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三种控制器共用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7362" y="2670048"/>
            <a:ext cx="219456" cy="10972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21682" y="1755648"/>
            <a:ext cx="1911644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21682" y="1755648"/>
            <a:ext cx="45720" cy="1847088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2850" y="1865376"/>
            <a:ext cx="1582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Songti SC"/>
              </a:defRPr>
            </a:pPr>
            <a:r>
              <a:t>数字孪生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2850" y="2194560"/>
            <a:ext cx="15824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1×3 实时渲染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七步闭环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2850" y="2816352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4E6242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2850" y="3072384"/>
            <a:ext cx="1582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565F67"/>
                </a:solidFill>
                <a:latin typeface="Songti SC"/>
              </a:defRPr>
            </a:pPr>
            <a:r>
              <a:t>接真值 oracle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一套字段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十二维输入、六维输出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两侧共同冻结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93082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93082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5962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5962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同一随机入口、同一执行器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三种控制器完全同权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7796" y="3803904"/>
            <a:ext cx="340553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7796" y="3803904"/>
            <a:ext cx="3405530" cy="411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0676" y="393192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3D5A73"/>
                </a:solidFill>
                <a:latin typeface="Songti SC"/>
              </a:defRPr>
            </a:pPr>
            <a:r>
              <a:t>一套证据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0676" y="4224528"/>
            <a:ext cx="307634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轨迹、指标、校验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三件套同时落盘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19379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分工：厉今飞（模型与接口）· 洪祖名（控制与对照）· 田铭雨（仿真）· 袁夫达（建模口径）· 孙承泽（集成与复现）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两处褐色是本轮的真实短板：代理模型仍是合成标签，控制只开了桨距。我们不把褐色画成绿色。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04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七步，闭环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选工况 → 看基准 → 调航向 → 求解 → 复核 → 可靠性 → 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不是录像，是我们系统自己的循环；讲完我可以当场再跑一遍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7818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g2_seven_step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64" y="1792224"/>
            <a:ext cx="6591127" cy="3703320"/>
          </a:xfrm>
          <a:prstGeom prst="rect">
            <a:avLst/>
          </a:prstGeom>
          <a:ln w="9525">
            <a:solidFill>
              <a:srgbClr val="D9DDE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568696"/>
            <a:ext cx="781812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动图 • 七步流程的真实截图，共 7 帧循环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7922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17922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8836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第五步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214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优化前后速度场并排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3957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尾流核被推开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7066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0808" y="27066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2798064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30358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2702.2 → 3299.8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3101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+22.11%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3621024"/>
            <a:ext cx="278251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0808" y="3621024"/>
            <a:ext cx="41148" cy="84124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3712463"/>
            <a:ext cx="24533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3D5A73"/>
                </a:solidFill>
                <a:latin typeface="Songti SC"/>
              </a:defRPr>
            </a:pPr>
            <a:r>
              <a:t>单步耗时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950208"/>
            <a:ext cx="24533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2161A"/>
                </a:solidFill>
                <a:latin typeface="Arial"/>
              </a:defRPr>
            </a:pPr>
            <a:r>
              <a:t>2 – 8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224528"/>
            <a:ext cx="24533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稳态求解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【真值】oracle 与浏览器内核逐式对拍，差值 1.25×10⁻¹² kW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05 跨模块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把队友的模型，接进我们的接口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冻结主干，只训新增的 0.79% 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三千零九十万个参数里，只动两万四千三百零六个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73936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659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参数量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状态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原模型总量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3,090,200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保留的隐藏层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3,087,200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冻结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新增控制输入连接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6,300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新六输出层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18,006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合计可训练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24,306（≈0.79%）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本轮训练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64807" y="1773936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399" y="1883664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18.14 / 1.69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2286000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低 / 中目标验证误差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7" y="2761488"/>
            <a:ext cx="5068519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871216"/>
            <a:ext cx="47576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800" b="1" i="0">
                <a:solidFill>
                  <a:srgbClr val="3D5A73"/>
                </a:solidFill>
                <a:latin typeface="Arial"/>
              </a:defRPr>
            </a:pPr>
            <a:r>
              <a:t>2.306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3273552"/>
            <a:ext cx="4757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高目标最终/选中误差比，按门槛停止晋级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730752"/>
            <a:ext cx="5068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B5C5C"/>
                </a:solidFill>
                <a:latin typeface="Songti SC"/>
              </a:defRPr>
            </a:pPr>
            <a:r>
              <a:t>【代理】合成标签训练，不是 CFD，也不是实测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59935"/>
            <a:ext cx="1087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改动面：0.79% 可训练，其余冻结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315968"/>
            <a:ext cx="10874959" cy="237744"/>
          </a:xfrm>
          <a:prstGeom prst="rect">
            <a:avLst/>
          </a:prstGeom>
          <a:solidFill>
            <a:srgbClr val="E4E7E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47415" y="4315968"/>
            <a:ext cx="85912" cy="237744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343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冻结主干　3,087,200 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90288"/>
            <a:ext cx="1087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8B5C5C"/>
                </a:solidFill>
                <a:latin typeface="Songti SC"/>
              </a:defRPr>
            </a:pPr>
            <a:r>
              <a:t>赭红色块为可训练部分（示意放大，真实占比 0.79%）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9472"/>
            <a:ext cx="108749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输入 12 维：风速 / 风向 / TI + 三机 × 偏航失配角 · 桨距角 · 转速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950">
                <a:solidFill>
                  <a:srgbClr val="565F67"/>
                </a:solidFill>
                <a:latin typeface="Songti SC"/>
              </a:rPr>
              <a:t>换成别的队友模型同样适用：冻结主干 + 新增输入连接 + 新输出头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这一页回答一个问题：队友的模型能不能为我们所用。能——而且只动 0.79% 的参数，主干与他的训练成果一行不改。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06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同权对照：赢在均值，输在边界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相对初始策略降 58.5%（硬）；相对 PI 再低 5.8%（软）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常规测试 18 案 × 3 条训练流；压力场 6 案不计入、单列在后一页；± 为三流均值的样本标准差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10512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控制方法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3D5A73"/>
                          </a:solidFill>
                          <a:latin typeface="Songti SC"/>
                        </a:rPr>
                        <a:t>常规平均 RMSE / kW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初始 MADDPG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1083.62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固定桨距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1100.34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P 控制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>
                          <a:solidFill>
                            <a:srgbClr val="12161A"/>
                          </a:solidFill>
                          <a:latin typeface="Songti SC"/>
                        </a:rPr>
                        <a:t>552.37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PI 控制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477.54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训练后 MADDPG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4E6242"/>
                          </a:solidFill>
                          <a:latin typeface="Songti SC"/>
                        </a:rPr>
                        <a:t>449.72 ± 40.11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39512" y="1810512"/>
            <a:ext cx="3046323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9512" y="1810512"/>
            <a:ext cx="45720" cy="160020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956816"/>
            <a:ext cx="268056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200" b="1" i="0">
                <a:solidFill>
                  <a:srgbClr val="4E6242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615184"/>
            <a:ext cx="26805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00" b="0" i="0">
                <a:solidFill>
                  <a:srgbClr val="565F67"/>
                </a:solidFill>
                <a:latin typeface="Songti SC"/>
              </a:defRPr>
            </a:pPr>
            <a:r>
              <a:t>误差相对初始策略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3090672"/>
            <a:ext cx="26805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4E6242"/>
                </a:solidFill>
                <a:latin typeface="Songti SC"/>
              </a:defRPr>
            </a:pPr>
            <a:r>
              <a:t>硬结论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7003" y="1810512"/>
            <a:ext cx="3046323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7003" y="1810512"/>
            <a:ext cx="45720" cy="160020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6459" y="1956816"/>
            <a:ext cx="268056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200" b="1" i="0">
                <a:solidFill>
                  <a:srgbClr val="8B5C5C"/>
                </a:solidFill>
                <a:latin typeface="Arial"/>
              </a:defRPr>
            </a:pPr>
            <a:r>
              <a:t>−5.8%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6459" y="2615184"/>
            <a:ext cx="26805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1000" b="0" i="0">
                <a:solidFill>
                  <a:srgbClr val="565F67"/>
                </a:solidFill>
                <a:latin typeface="Songti SC"/>
              </a:defRPr>
            </a:pPr>
            <a:r>
              <a:t>误差均值再低于 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6459" y="3090672"/>
            <a:ext cx="26805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软结论，且有一条流输了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621024"/>
            <a:ext cx="6293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950" b="1">
                <a:solidFill>
                  <a:srgbClr val="12161A"/>
                </a:solidFill>
                <a:latin typeface="Songti SC"/>
              </a:rPr>
              <a:t>对评委的一句话</a:t>
            </a:r>
            <a:r>
              <a:rPr sz="950">
                <a:solidFill>
                  <a:srgbClr val="565F67"/>
                </a:solidFill>
                <a:latin typeface="Songti SC"/>
              </a:rPr>
              <a:t>  我们赢在均值、输在边界，所以没把这一页写成结论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950" b="1">
                <a:solidFill>
                  <a:srgbClr val="12161A"/>
                </a:solidFill>
                <a:latin typeface="Songti SC"/>
              </a:rPr>
              <a:t>口径纪律</a:t>
            </a:r>
            <a:r>
              <a:rPr sz="950">
                <a:solidFill>
                  <a:srgbClr val="565F67"/>
                </a:solidFill>
                <a:latin typeface="Songti SC"/>
              </a:rPr>
              <a:t>  误差棒是三条流的样本标准差，不是置信区间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3440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00">
                <a:solidFill>
                  <a:srgbClr val="565F67"/>
                </a:solidFill>
                <a:latin typeface="Songti SC"/>
              </a:rPr>
              <a:t>三类入口（平稳 / 慢变 / 阵风）、统一执行器、同一评价口径：三种控制器完全同权。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00">
                <a:solidFill>
                  <a:srgbClr val="565F67"/>
                </a:solidFill>
                <a:latin typeface="Songti SC"/>
              </a:rPr>
              <a:t>所以这一页不写成「MADDPG 优于传统控制」，只写「均值略低、未达显著、跨流不稳」。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措辞纪律：本页不得表述为「MADDPG 优于传统控制」。正确说法是「均值略低、未达统计显著、跨流可靠性不足」。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09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06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三个输掉的场景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很多组到这一步只报均值。我们偏要把它放上来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负结果不是漏洞，是下一轮的靶子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慢变风向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432.08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417.19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假设：目标条件响应不足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 3.6%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506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6506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5962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低风高目标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7.6 m/s / 4.4 MW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962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962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1727.89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962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1383.30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5962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假设：欠功率 + 可达性边界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962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 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4644" y="1810512"/>
            <a:ext cx="34786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4644" y="1810512"/>
            <a:ext cx="3478682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4100" y="1956816"/>
            <a:ext cx="307634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 sz="1250" b="1" i="0">
                <a:solidFill>
                  <a:srgbClr val="12161A"/>
                </a:solidFill>
                <a:latin typeface="Songti SC"/>
              </a:defRPr>
            </a:pPr>
            <a:r>
              <a:t>单条训练流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2615184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100" y="2834640"/>
            <a:ext cx="307634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8B5C5C"/>
                </a:solidFill>
                <a:latin typeface="Arial"/>
              </a:defRPr>
            </a:pPr>
            <a:r>
              <a:t>高于 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4100" y="3383280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565F67"/>
                </a:solidFill>
                <a:latin typeface="Songti SC"/>
              </a:defRPr>
            </a:pPr>
            <a:r>
              <a:t>PI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4100" y="3712463"/>
            <a:ext cx="30763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3D5A73"/>
                </a:solidFill>
                <a:latin typeface="Songti SC"/>
              </a:defRPr>
            </a:pPr>
            <a:r>
              <a:t>假设：跨流可靠性未达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4100" y="3968496"/>
            <a:ext cx="30763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8B5C5C"/>
                </a:solidFill>
                <a:latin typeface="Songti SC"/>
              </a:defRPr>
            </a:pPr>
            <a:r>
              <a:t>差距：输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边界：压力场是固定风，不能称为湍流测试；没有全局功率上界证书，不能把全部跟踪损失解释成物理不可达。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07 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凭什么信我们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每一个数字，都能当场往回算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2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1">
                <a:solidFill>
                  <a:srgbClr val="565F67"/>
                </a:solidFill>
                <a:latin typeface="Songti SC"/>
              </a:defRPr>
            </a:pPr>
            <a:r>
              <a:t>不靠一句「我们做得很认真」，靠四个可以被别人重跑的东西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200" b="1" i="0">
                <a:solidFill>
                  <a:srgbClr val="4E6242"/>
                </a:solidFill>
                <a:latin typeface="Arial"/>
              </a:defRPr>
            </a:pPr>
            <a:r>
              <a:t>161 / 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两套布局的自检项数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失败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7399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7399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0279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30,720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279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行轨迹复算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0279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与原记录差 0 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10⁻¹²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逐式对拍差值 /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浏览器内核 vs FLORIS 参考值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5463" y="1847088"/>
            <a:ext cx="2567863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5463" y="1847088"/>
            <a:ext cx="2567863" cy="45720"/>
          </a:xfrm>
          <a:prstGeom prst="rect">
            <a:avLst/>
          </a:prstGeom>
          <a:solidFill>
            <a:srgbClr val="4E6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343" y="1993392"/>
            <a:ext cx="2238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2600" b="1" i="0">
                <a:solidFill>
                  <a:srgbClr val="4E6242"/>
                </a:solidFill>
                <a:latin typeface="Arial"/>
              </a:defRPr>
            </a:pPr>
            <a:r>
              <a:t>R47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343" y="2688336"/>
            <a:ext cx="2238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迭代轮次编号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343" y="3346704"/>
            <a:ext cx="2238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2161A"/>
                </a:solidFill>
                <a:latin typeface="Songti SC"/>
              </a:defRPr>
            </a:pPr>
            <a:r>
              <a:t>28 份轮次记录，全部留档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41648"/>
            <a:ext cx="10874959" cy="512064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160520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我们共享一个资料空间：从 R11 到 R47，谁提的问题、谁改的、为什么改，全部可回溯。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4632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00" b="1">
                <a:solidFill>
                  <a:srgbClr val="12161A"/>
                </a:solidFill>
                <a:latin typeface="Songti SC"/>
              </a:rPr>
              <a:t>怎么证明</a:t>
            </a:r>
            <a:r>
              <a:rPr sz="1000">
                <a:solidFill>
                  <a:srgbClr val="565F67"/>
                </a:solidFill>
                <a:latin typeface="Songti SC"/>
              </a:rPr>
              <a:t>  评委指定任意一个数字，我们当场重跑，不给截图式的证明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00" b="1">
                <a:solidFill>
                  <a:srgbClr val="12161A"/>
                </a:solidFill>
                <a:latin typeface="Songti SC"/>
              </a:rPr>
              <a:t>代价</a:t>
            </a:r>
            <a:r>
              <a:rPr sz="1000">
                <a:solidFill>
                  <a:srgbClr val="565F67"/>
                </a:solidFill>
                <a:latin typeface="Songti SC"/>
              </a:rPr>
              <a:t>  为此多写了二十余份审计与证据卡，交付节奏比「先做再说」慢——这是主动选择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【实测】以上四项均可在会议室当场重跑；数字以复跑结果为准。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08 价值 · 国际与国家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世界很大，天花板很低；我们国家，装下了它的一半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把国际主流链路做到可复算，把验证工具做到能自己看见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92224"/>
            <a:ext cx="5300319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5300319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8979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3D5A73"/>
                </a:solidFill>
                <a:latin typeface="Songti SC"/>
              </a:defRPr>
            </a:pPr>
            <a:r>
              <a:t>国际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3D5A73"/>
                </a:solidFill>
                <a:latin typeface="Arial"/>
              </a:defRPr>
            </a:pPr>
            <a:r>
              <a:t>164.6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249424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2025 年全球新增风电，累计 1,299 GW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670048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【GWEC 2026】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944368"/>
            <a:ext cx="4824831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17520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3D5A73"/>
                </a:solidFill>
                <a:latin typeface="Arial"/>
              </a:defRPr>
            </a:pPr>
            <a:r>
              <a:t>0.4% – 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999232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风场级控制的年发电量增益上限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419856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【WES 2024】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694176"/>
            <a:ext cx="4824831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67328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3D5A73"/>
                </a:solidFill>
                <a:latin typeface="Arial"/>
              </a:defRPr>
            </a:pPr>
            <a:r>
              <a:t>少数机构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3749040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成果与工具链闭环在少数机构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69664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【行业观察】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1792224"/>
            <a:ext cx="5300319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792224"/>
            <a:ext cx="5300319" cy="45720"/>
          </a:xfrm>
          <a:prstGeom prst="rect">
            <a:avLst/>
          </a:prstGeom>
          <a:solidFill>
            <a:srgbClr val="8B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0751" y="1920240"/>
            <a:ext cx="48979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8B5C5C"/>
                </a:solidFill>
                <a:latin typeface="Songti SC"/>
              </a:defRPr>
            </a:pPr>
            <a:r>
              <a:t>国家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0751" y="2267712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8B5C5C"/>
                </a:solidFill>
                <a:latin typeface="Arial"/>
              </a:defRPr>
            </a:pPr>
            <a:r>
              <a:t>6.4 亿千瓦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7295" y="2249424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我国风电累计装机，同比 +22.9%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7295" y="2670048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【国家能源局 2026-02】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0751" y="2944368"/>
            <a:ext cx="4824831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0751" y="3017520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8B5C5C"/>
                </a:solidFill>
                <a:latin typeface="Arial"/>
              </a:defRPr>
            </a:pPr>
            <a:r>
              <a:t>79%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7295" y="2999232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2025 年新增 1.2 亿千瓦中「三北」的占比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7295" y="3419856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【国家能源局 2026-02】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0751" y="3694176"/>
            <a:ext cx="4824831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0751" y="3767328"/>
            <a:ext cx="1956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1650" b="1" i="0">
                <a:solidFill>
                  <a:srgbClr val="8B5C5C"/>
                </a:solidFill>
                <a:latin typeface="Arial"/>
              </a:defRPr>
            </a:pPr>
            <a:r>
              <a:t>73% / 49.6%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7295" y="3749040"/>
            <a:ext cx="27765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defRPr sz="950" b="0" i="0">
                <a:solidFill>
                  <a:srgbClr val="12161A"/>
                </a:solidFill>
                <a:latin typeface="Songti SC"/>
              </a:defRPr>
            </a:pPr>
            <a:r>
              <a:t>中国占全球新增 / 累计装机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7295" y="4169664"/>
            <a:ext cx="27765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00" b="1" i="0">
                <a:solidFill>
                  <a:srgbClr val="8B5C5C"/>
                </a:solidFill>
                <a:latin typeface="Songti SC"/>
              </a:defRPr>
            </a:pPr>
            <a:r>
              <a:t>【GWEC 2026】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63440"/>
            <a:ext cx="10874959" cy="475488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4773168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FFFFFF"/>
                </a:solidFill>
                <a:latin typeface="Songti SC"/>
              </a:defRPr>
            </a:pPr>
            <a:r>
              <a:t>我们的位置：不做新的物理模型，而是把这条国际主流链路在本科团队里跑通、逐式对拍、留下全部证据。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措辞纪律：不说「领先国际」，只说「把国际主流链路在本科团队里跑到可复算」。前者无法证明，后者每一项都有文件。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65760"/>
            <a:ext cx="10874959" cy="16459"/>
          </a:xfrm>
          <a:prstGeom prst="rect">
            <a:avLst/>
          </a:prstGeom>
          <a:solidFill>
            <a:srgbClr val="23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565F67"/>
                </a:solidFill>
                <a:latin typeface="Arial"/>
              </a:defRPr>
            </a:pPr>
            <a:r>
              <a:t>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1" i="0">
                <a:solidFill>
                  <a:srgbClr val="A08355"/>
                </a:solidFill>
                <a:latin typeface="Arial"/>
              </a:defRPr>
            </a:pPr>
            <a:r>
              <a:t>08 价值 · 社会与下一步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686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defRPr sz="2500" b="1" i="0">
                <a:solidFill>
                  <a:srgbClr val="12161A"/>
                </a:solidFill>
                <a:latin typeface="Songti SC"/>
              </a:defRPr>
            </a:pPr>
            <a:r>
              <a:t>同样的风，更少的弃风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692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电价 · 教育 · 科研诚信 —— 以及下一轮要交的三件事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92224"/>
            <a:ext cx="3478682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3478682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30763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电价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307634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defRPr sz="1000" b="0" i="0">
                <a:solidFill>
                  <a:srgbClr val="12161A"/>
                </a:solidFill>
                <a:latin typeface="Songti SC"/>
              </a:defRPr>
            </a:pPr>
            <a:r>
              <a:t>wake steering 的收益增益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defRPr sz="1000" b="0" i="0">
                <a:solidFill>
                  <a:srgbClr val="12161A"/>
                </a:solidFill>
                <a:latin typeface="Songti SC"/>
              </a:defRPr>
            </a:pPr>
            <a:r>
              <a:t>比能量增益还高约 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962656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072384"/>
            <a:ext cx="30763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多发的那部分电，落在高价时段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94176"/>
            <a:ext cx="307634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6506" y="1792224"/>
            <a:ext cx="3478682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6506" y="1792224"/>
            <a:ext cx="3478682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962" y="1920240"/>
            <a:ext cx="30763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教育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2249424"/>
            <a:ext cx="307634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defRPr sz="1000" b="0" i="0">
                <a:solidFill>
                  <a:srgbClr val="12161A"/>
                </a:solidFill>
                <a:latin typeface="Songti SC"/>
              </a:defRPr>
            </a:pPr>
            <a:r>
              <a:t>全链路留档：数据、模型、控制、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defRPr sz="1000" b="0" i="0">
                <a:solidFill>
                  <a:srgbClr val="12161A"/>
                </a:solidFill>
                <a:latin typeface="Songti SC"/>
              </a:defRPr>
            </a:pPr>
            <a:r>
              <a:t>可视化、复现，每一步可回溯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5962" y="2962656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5962" y="3072384"/>
            <a:ext cx="30763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可直接作为本科生科研训练的模板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962" y="3694176"/>
            <a:ext cx="307634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【实测 · 资料空间】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4644" y="1792224"/>
            <a:ext cx="3478682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4644" y="1792224"/>
            <a:ext cx="3478682" cy="45720"/>
          </a:xfrm>
          <a:prstGeom prst="rect">
            <a:avLst/>
          </a:prstGeom>
          <a:solidFill>
            <a:srgbClr val="3D5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4100" y="1920240"/>
            <a:ext cx="30763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3D5A73"/>
                </a:solidFill>
                <a:latin typeface="Songti SC"/>
              </a:defRPr>
            </a:pPr>
            <a:r>
              <a:t>诚信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4100" y="2249424"/>
            <a:ext cx="307634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defRPr sz="1000" b="0" i="0">
                <a:solidFill>
                  <a:srgbClr val="12161A"/>
                </a:solidFill>
                <a:latin typeface="Songti SC"/>
              </a:defRPr>
            </a:pPr>
            <a:r>
              <a:t>主动报告失败场景与未过门槛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4100" y="2962656"/>
            <a:ext cx="3039770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4100" y="3072384"/>
            <a:ext cx="30763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defRPr sz="950" b="0" i="0">
                <a:solidFill>
                  <a:srgbClr val="565F67"/>
                </a:solidFill>
                <a:latin typeface="Songti SC"/>
              </a:defRPr>
            </a:pPr>
            <a:r>
              <a:t>这是这次答辩里最想留下的示范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3694176"/>
            <a:ext cx="307634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B5C5C"/>
                </a:solidFill>
                <a:latin typeface="Songti SC"/>
              </a:defRPr>
            </a:pPr>
            <a:r>
              <a:t>【自述 · 本项目做法】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334256"/>
            <a:ext cx="10874959" cy="548640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443984"/>
            <a:ext cx="105091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FFFFFF"/>
                </a:solidFill>
                <a:latin typeface="Songti SC"/>
              </a:defRPr>
            </a:pPr>
            <a:r>
              <a:t>下一步三件事：打开转速与偏航 · 入口换成真数据 · 可达性从扫描做成证明。做完，才配叫「风场级」。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15584"/>
            <a:ext cx="10874959" cy="402336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B5C5C"/>
                </a:solidFill>
                <a:latin typeface="Songti SC"/>
              </a:defRPr>
            </a:pPr>
            <a:r>
              <a:t>这一页不放新数字：所有数据都在前面出现过，或者标了外部来源。升华靠结论，不靠加码。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28232"/>
            <a:ext cx="977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0" i="0">
                <a:solidFill>
                  <a:srgbClr val="565F67"/>
                </a:solidFill>
                <a:latin typeface="Songti SC"/>
              </a:defRPr>
            </a:pPr>
            <a:r>
              <a:t>多机协同智能功率控制与数字孪生演示 · 中期检查 2026-10 · 汇报人 孙承泽 · 指导教师 李良星 副教授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55080"/>
            <a:ext cx="10874959" cy="7315"/>
          </a:xfrm>
          <a:prstGeom prst="rect">
            <a:avLst/>
          </a:prstGeom>
          <a:solidFill>
            <a:srgbClr val="D9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3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B101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6047" y="384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B4BCC2"/>
                </a:solidFill>
                <a:latin typeface="Arial"/>
              </a:defRPr>
            </a:pPr>
            <a: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8749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900" b="1" i="0">
                <a:solidFill>
                  <a:srgbClr val="FFFFFF"/>
                </a:solidFill>
                <a:latin typeface="Songti SC"/>
              </a:defRPr>
            </a:pPr>
            <a:r>
              <a:t>我们没做出一个漂亮的数字，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65376"/>
            <a:ext cx="108749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900" b="1" i="0">
                <a:solidFill>
                  <a:srgbClr val="FFFFFF"/>
                </a:solidFill>
                <a:latin typeface="Songti SC"/>
              </a:defRPr>
            </a:pPr>
            <a:r>
              <a:t>我们做出了一件可以被检查的东西。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2377440" cy="10972"/>
          </a:xfrm>
          <a:prstGeom prst="rect">
            <a:avLst/>
          </a:prstGeom>
          <a:solidFill>
            <a:srgbClr val="A08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80944"/>
            <a:ext cx="1087495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700" b="1" i="0">
                <a:solidFill>
                  <a:srgbClr val="A08355"/>
                </a:solidFill>
                <a:latin typeface="Songti SC"/>
              </a:defRPr>
            </a:pPr>
            <a:r>
              <a:t>中国的风，应当由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9584"/>
            <a:ext cx="1087495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defRPr sz="2700" b="1" i="0">
                <a:solidFill>
                  <a:srgbClr val="A08355"/>
                </a:solidFill>
                <a:latin typeface="Songti SC"/>
              </a:defRPr>
            </a:pPr>
            <a:r>
              <a:t>中国人自己的算法来驾驭。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81728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0" i="0">
                <a:solidFill>
                  <a:srgbClr val="F2F4F6"/>
                </a:solidFill>
                <a:latin typeface="Songti SC"/>
              </a:defRPr>
            </a:pPr>
            <a:r>
              <a:t>感谢各位老师。欢迎提问，也欢迎质疑。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504688"/>
            <a:ext cx="10874959" cy="10972"/>
          </a:xfrm>
          <a:prstGeom prst="rect">
            <a:avLst/>
          </a:prstGeom>
          <a:solidFill>
            <a:srgbClr val="3A4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多机协同智能功率控制与数字孪生演示 · 中期检查 · 2026 年 10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61888"/>
            <a:ext cx="1087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B4BCC2"/>
                </a:solidFill>
                <a:latin typeface="Songti SC"/>
              </a:defRPr>
            </a:pPr>
            <a:r>
              <a:t>孙承泽　厉今飞　袁夫达　田铭雨　洪祖名　｜　指导教师　李良星 副教授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