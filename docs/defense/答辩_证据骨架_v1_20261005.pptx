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097280"/>
            <a:ext cx="9966960" cy="36576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D2024"/>
                </a:solidFill>
                <a:latin typeface="Songti SC"/>
              </a:defRPr>
            </a:pPr>
            <a:r>
              <a:t>多机协同智能功率控制与数字孪生演示平台</a:t>
            </a:r>
          </a:p>
          <a:p>
            <a:pPr>
              <a:defRPr sz="2200" b="1">
                <a:solidFill>
                  <a:srgbClr val="4D6884"/>
                </a:solidFill>
                <a:latin typeface="Songti SC"/>
              </a:defRPr>
            </a:pPr>
            <a:r>
              <a:t>结题答辩 · 七页证据骨架（v1 渲染）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495057"/>
                </a:solidFill>
                <a:latin typeface="Songti SC"/>
              </a:defRPr>
            </a:pPr>
            <a:r>
              <a:t>• 汇报人：孙承泽（可视化与数字孪生 · 项目集成 · 仓库治理）</a:t>
            </a:r>
            <a:br/>
            <a:r>
              <a:t>• 指导教师：李良星 副教授</a:t>
            </a:r>
            <a:br/>
            <a:r>
              <a:t>• 依据：9.19《风电场项目结题目标与倒排实施方案》§十一（可视化同学先行建立答辩骨架，每页证据列为收集任务）</a:t>
            </a:r>
            <a:br/>
            <a:r>
              <a:t>• 渲染日期：2026-10-05（答辩对象/时长/截止日未定——骨架先立，题目来了填肉）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01 / BACKGROUND, WAKE IMPACT &amp; GOALS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尾流为什么值得预测与优化——1×3 串列零偏航基线已给出量级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02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要回答：尾流影响什么？为什么需要预测与优化？最终验证哪一个问题？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D2024"/>
                </a:solidFill>
                <a:latin typeface="Songti SC"/>
              </a:rPr>
              <a:t>申请书结题承诺</a:t>
            </a:r>
            <a:r>
              <a:rPr sz="1250">
                <a:solidFill>
                  <a:srgbClr val="495057"/>
                </a:solidFill>
                <a:latin typeface="Songti SC"/>
              </a:rPr>
              <a:t>研究报告 1 项 + 有望专利或软著 1 项；阶段五成果 =「多机协同智能功率控制与数字孪生演示平台 1 套」【申请书原文】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D2024"/>
                </a:solidFill>
                <a:latin typeface="Songti SC"/>
              </a:rPr>
              <a:t>9.19 决议</a:t>
            </a:r>
            <a:r>
              <a:rPr sz="1250">
                <a:solidFill>
                  <a:srgbClr val="495057"/>
                </a:solidFill>
                <a:latin typeface="Songti SC"/>
              </a:rPr>
              <a:t>第一版固定三台 NREL 5 MW；输入范围界面明确显示、超范围提示【会议决议】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D2024"/>
                </a:solidFill>
                <a:latin typeface="Songti SC"/>
              </a:rPr>
              <a:t>尾流损失量级（1×3 串列 · 零偏航）</a:t>
            </a:r>
            <a:r>
              <a:rPr sz="1250">
                <a:solidFill>
                  <a:srgbClr val="495057"/>
                </a:solidFill>
                <a:latin typeface="Songti SC"/>
              </a:rPr>
              <a:t>无尾流 5261.9 → 有尾流 2702.2 kW，损失 48.6%【FLORIS 4.6.6 · GCH 模拟真值】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D2024"/>
                </a:solidFill>
                <a:latin typeface="Songti SC"/>
              </a:rPr>
              <a:t>结论</a:t>
            </a:r>
            <a:r>
              <a:rPr sz="1250">
                <a:solidFill>
                  <a:srgbClr val="495057"/>
                </a:solidFill>
                <a:latin typeface="Songti SC"/>
              </a:rPr>
              <a:t>串列布置下尾流是主导损失项；预测 + 航向角优化是第一版范围内唯一的主动减损手段</a:t>
            </a:r>
          </a:p>
        </p:txBody>
      </p:sp>
      <p:pic>
        <p:nvPicPr>
          <p:cNvPr id="9" name="Picture 8" descr="r41_3x3_look_2026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4519"/>
            <a:ext cx="4873752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0" y="4663440"/>
            <a:ext cx="48737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95057"/>
                </a:solidFill>
                <a:latin typeface="Songti SC"/>
              </a:defRPr>
            </a:pPr>
            <a:r>
              <a:t>3×3 九机留档视图（R41 重拍 · 2026-10-05 · ?freeze=1）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【待收集】实测场站尾流损失量级图——待真实 SCADA / 阶段五物理平台；上图与数字为模拟真值，非实测。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02 / TASK BOUNDARIES &amp; PHYSICAL ASSUMPTIONS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固定三机几何、唯一验证工况与两条红线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03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要回答：什么布局、风况、物理假设？哪些能力未覆盖？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74519"/>
          <a:ext cx="107259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97680"/>
                <a:gridCol w="2011680"/>
                <a:gridCol w="2770632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布局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机位 (x, y) /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行距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用途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3×3 留档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9 台 · 3 行×3 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632 m = 5.02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阶段一/二可视化（tag 留档不删）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1×3 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T01(−100,0) T02(100,0) T03(300,0)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200 m = 1.59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航向角优化演示固定工况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65760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机组</a:t>
            </a:r>
            <a:r>
              <a:rPr sz="1200">
                <a:solidFill>
                  <a:srgbClr val="495057"/>
                </a:solidFill>
                <a:latin typeface="Songti SC"/>
              </a:rPr>
              <a:t>NREL 5 MW 级：D = 125.88 m · 轮毂高度 90 m · 额定 5000 kW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来流</a:t>
            </a:r>
            <a:r>
              <a:rPr sz="1200">
                <a:solidFill>
                  <a:srgbClr val="495057"/>
                </a:solidFill>
                <a:latin typeface="Songti SC"/>
              </a:rPr>
              <a:t>8 m/s / 0°（正北）/ 湍流强度 6% —— 唯一已验证范围；界面明确显示、超范围提示（R44 已实现）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红线 ①</a:t>
            </a:r>
            <a:r>
              <a:rPr sz="1200">
                <a:solidFill>
                  <a:srgbClr val="495057"/>
                </a:solidFill>
                <a:latin typeface="Songti SC"/>
              </a:rPr>
              <a:t>轮毂高度截面是工程近似，不宣称二维物理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红线 ②</a:t>
            </a:r>
            <a:r>
              <a:rPr sz="1200">
                <a:solidFill>
                  <a:srgbClr val="495057"/>
                </a:solidFill>
                <a:latin typeface="Songti SC"/>
              </a:rPr>
              <a:t>不宣称在线控制 / 电网跟踪 / 并网稳定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【待收集】输入范围完整验证表（风速/风向/湍流强度已验证区间）——依赖字段与单位冻结（组会催办项，WORKLIST §2.5）。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03 / TECHNICAL ROUTE: DATA → MODEL → OPTIMIZE → REVIEW → DISPLAY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零后端孪生链路：离线真值打包进前端，浏览器内核推理，41 工况对拍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04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要回答：数据怎样进模型、模型怎样服务优化、结果怎样复核？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883664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D6884"/>
                </a:solidFill>
                <a:latin typeface="Songti SC"/>
              </a:rPr>
              <a:t>FLORIS 4.6.6</a:t>
            </a:r>
          </a:p>
          <a:p>
            <a:r>
              <a:rPr sz="1050">
                <a:solidFill>
                  <a:srgbClr val="495057"/>
                </a:solidFill>
                <a:latin typeface="Songti SC"/>
              </a:rPr>
              <a:t>Python 离线生成
41 工况真值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60904" y="2752344"/>
            <a:ext cx="256032" cy="164592"/>
          </a:xfrm>
          <a:prstGeom prst="rightArrow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2148840"/>
            <a:ext cx="1883664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D6884"/>
                </a:solidFill>
                <a:latin typeface="Songti SC"/>
              </a:rPr>
              <a:t>oracle JSON</a:t>
            </a:r>
          </a:p>
          <a:p>
            <a:r>
              <a:rPr sz="1050">
                <a:solidFill>
                  <a:srgbClr val="495057"/>
                </a:solidFill>
                <a:latin typeface="Songti SC"/>
              </a:rPr>
              <a:t>构建期打包
零运行时依赖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5464" y="2752344"/>
            <a:ext cx="256032" cy="164592"/>
          </a:xfrm>
          <a:prstGeom prst="rightArrow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2148840"/>
            <a:ext cx="1883664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D6884"/>
                </a:solidFill>
                <a:latin typeface="Songti SC"/>
              </a:rPr>
              <a:t>GCH 内核</a:t>
            </a:r>
          </a:p>
          <a:p>
            <a:r>
              <a:rPr sz="1050">
                <a:solidFill>
                  <a:srgbClr val="495057"/>
                </a:solidFill>
                <a:latin typeface="Songti SC"/>
              </a:rPr>
              <a:t>浏览器内推理
逐式移植 · ms 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0024" y="2752344"/>
            <a:ext cx="256032" cy="164592"/>
          </a:xfrm>
          <a:prstGeom prst="rightArrow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199" y="2148840"/>
            <a:ext cx="1883664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D6884"/>
                </a:solidFill>
                <a:latin typeface="Songti SC"/>
              </a:rPr>
              <a:t>贪心航向优化</a:t>
            </a:r>
          </a:p>
          <a:p>
            <a:r>
              <a:rPr sz="1050">
                <a:solidFill>
                  <a:srgbClr val="495057"/>
                </a:solidFill>
                <a:latin typeface="Songti SC"/>
              </a:rPr>
              <a:t>±30° / 5° 步
上游→下游三阶段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44584" y="2752344"/>
            <a:ext cx="256032" cy="164592"/>
          </a:xfrm>
          <a:prstGeom prst="rightArrow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2148840"/>
            <a:ext cx="1883664" cy="1371600"/>
          </a:xfrm>
          <a:prstGeom prst="rect">
            <a:avLst/>
          </a:prstGeom>
          <a:solidFill>
            <a:srgbClr val="FFFFFF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D6884"/>
                </a:solidFill>
                <a:latin typeface="Songti SC"/>
              </a:rPr>
              <a:t>对拍 + 七步演示</a:t>
            </a:r>
          </a:p>
          <a:p>
            <a:r>
              <a:rPr sz="1050">
                <a:solidFill>
                  <a:srgbClr val="495057"/>
                </a:solidFill>
                <a:latin typeface="Songti SC"/>
              </a:rPr>
              <a:t>41 工况核对
JSON / SVG 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两条路线</a:t>
            </a:r>
            <a:r>
              <a:rPr sz="1200">
                <a:solidFill>
                  <a:srgbClr val="495057"/>
                </a:solidFill>
                <a:latin typeface="Songti SC"/>
              </a:rPr>
              <a:t>快速路线（上排全链路，本 PPT 全部数字出自此链）；PINN 路线（洪祖名接口：≥9 控制量 → P1–P3 + Ueff1–3，待数据训练）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模块关系图为本次装配新绘</a:t>
            </a:r>
            <a:r>
              <a:rPr sz="1200">
                <a:solidFill>
                  <a:srgbClr val="495057"/>
                </a:solidFill>
                <a:latin typeface="Songti SC"/>
              </a:rPr>
              <a:t>round43 骨架「现在不存在」的待收集项 → 已补齐（渲染即证据，口径见 legend）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【待收集】PINN 路线端到端图（待训练完成后补；当前接口定义见 9/20 群聊记录）。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04 / DATA QUALITY &amp; CASE INVENTORY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41 个独立工况入库，每一条数据的来源与质量结论可点到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05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要回答：样本哪来？多少独立工况？如何排除无效算例？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7259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414223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来源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体量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状态 / 质量结论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袁夫达 · FLORIS GCH/CC（20260808）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各 1224 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已交付；自评「数据品质不高，还是得最后靠仿真」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FLORIS 4.6.6 · tandem3 oracle（R42）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41 个独立工况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入库 · sha256 可核验 · G3t 对拍断言全绿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厉今飞 · 三机 PINN 交接（10-03）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3,090,200 参数（新增可训 0.79%）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待数据训练（阶段三检查点）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田铭雨 · CFD 最小复现包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⚠ 至今零痕迹，按 9.19 §十 催办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口径</a:t>
            </a:r>
            <a:r>
              <a:rPr sz="1200">
                <a:solidFill>
                  <a:srgbClr val="495057"/>
                </a:solidFill>
                <a:latin typeface="Songti SC"/>
              </a:rPr>
              <a:t>case_id 统一编号；无效算例排除 = 41 工况全部通过内核-基准对拍（R42 G3t，161 项断言常绿）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【待收集】工况清单表（case_id × 来源 × 质量结论）全量版；CFD 网格质量证据（MRF/滑移网格、网格无关性）。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05 / MODEL METHODS: BASELINE / SURROGATE / PINN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三类模型的分工与各自的验证状态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06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要回答：基准 / 降阶 / 物理信息各解决什么问题？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7259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450799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2024"/>
                          </a:solidFill>
                          <a:latin typeface="Arial"/>
                        </a:rPr>
                        <a:t>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FLORIS 4.6.6 · GCH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基准真值（离线生成）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41 工况 oracle 入库【基准】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浏览器 GCH 内核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快速代理（实时推理）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FLORIS 逐式移植；对拍最大差 1.25×10⁻¹² kW【代理】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三机 PINN（Keras）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物理信息代理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冻结 3,087,200 / 新增 24,306 · 9 入 6 出 · 待训练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MLP 功率基线（厉今飞）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回归基线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Arial"/>
                        </a:rPr>
                        <a:t>20260808 交付；对李良星正式答复已完成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029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00" b="1">
                <a:solidFill>
                  <a:srgbClr val="1D2024"/>
                </a:solidFill>
                <a:latin typeface="Songti SC"/>
              </a:rPr>
              <a:t>参照</a:t>
            </a:r>
            <a:r>
              <a:rPr sz="1200">
                <a:solidFill>
                  <a:srgbClr val="495057"/>
                </a:solidFill>
                <a:latin typeface="Songti SC"/>
              </a:rPr>
              <a:t>尾流 PINN 论文 2 篇（9/14，materials/集体）；9.19 §四/§五（POD 基 + PINN 结构约定）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【待收集】PINN 训练结果或完整阻塞记录（9/25 检查点未达，按 9.19 §八 如实留痕）；POD 基重建结论。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06 / PREDICTION &amp; OPTIMIZATION RESULTS (1×3 TANDEM)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贪心 [30,25,0] 净增 +597.5 kW / +22.11%；内核对拍 1.25×10⁻¹² kW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07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要回答：误差、成本、收益是多少？有哪些失败条件？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74519"/>
          <a:ext cx="5760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13716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工况（1×3 · 8 m/s · 北来风）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T01 / T02 / T03 ·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全场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零偏航【真值】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1754.0 / 439.0 / 509.2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2702.2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贪心 [30,25,0]【真值】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1339.9 / 847.2 / 1112.7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3299.8 kW (+22.11%)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79476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内核 vs 基准对拍</a:t>
            </a:r>
            <a:r>
              <a:rPr sz="1150">
                <a:solidFill>
                  <a:srgbClr val="495057"/>
                </a:solidFill>
                <a:latin typeface="Songti SC"/>
              </a:rPr>
              <a:t>41 工况 · 最大单台差 1.25×10⁻¹² kW · NMAE 3.8×10⁻¹⁴ %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耗时（SwiftShader 沙箱）</a:t>
            </a:r>
            <a:r>
              <a:rPr sz="1150">
                <a:solidFill>
                  <a:srgbClr val="495057"/>
                </a:solidFill>
                <a:latin typeface="Songti SC"/>
              </a:rPr>
              <a:t>推理 27–37 ms / 优化 5–23 ms / 41 工况复核 ≈229 ms【实测 · 代理环境】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归因</a:t>
            </a:r>
            <a:r>
              <a:rPr sz="1150">
                <a:solidFill>
                  <a:srgbClr val="495057"/>
                </a:solidFill>
                <a:latin typeface="Songti SC"/>
              </a:rPr>
              <a:t>「下游 &gt; 中游」非单调 = FLORIS 真值行为（R42 已修正归因，非缺陷）</a:t>
            </a:r>
          </a:p>
        </p:txBody>
      </p:sp>
      <p:pic>
        <p:nvPicPr>
          <p:cNvPr id="10" name="Picture 9" descr="r44_demo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74519"/>
            <a:ext cx="4690872" cy="26426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4553712"/>
            <a:ext cx="46908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495057"/>
                </a:solidFill>
                <a:latin typeface="Songti SC"/>
              </a:defRPr>
            </a:pPr>
            <a:r>
              <a:t>演示第⑤步 · 复核效果：前后流场对比 + 逐台功率（R44 演示截图）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【待收集】PINN 路线逐工况指标表与失败案例集（待训练）；9.19 §七验收口径（流场 5% / NMAE≤3% / P95&lt;1 s）均为【讨论目标，非成绩】。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07 / SYSTEM DEMONSTRATION &amp; TEAM CONTRIBUTIONS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三闸全绿、基线 145→161；五人分工与本周（R41–R46）收口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08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495057"/>
                </a:solidFill>
                <a:latin typeface="Songti SC"/>
              </a:defRPr>
            </a:pPr>
            <a:r>
              <a:t>要回答：系统是否可用？每位成员实际交付了什么？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系统可用性【实测】</a:t>
            </a:r>
            <a:r>
              <a:rPr sz="1150">
                <a:solidFill>
                  <a:srgbClr val="495057"/>
                </a:solidFill>
                <a:latin typeface="Songti SC"/>
              </a:rPr>
              <a:t>三道质量闸：lint 0/0 · selftest 3×3 161/0、1×3 158/0 · 构建 ✓（R44）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可复现基线演进</a:t>
            </a:r>
            <a:r>
              <a:rPr sz="1150">
                <a:solidFill>
                  <a:srgbClr val="495057"/>
                </a:solidFill>
                <a:latin typeface="Songti SC"/>
              </a:rPr>
              <a:t>EVID-2026-001 145/0（9/20）→ 150/0（R41）→ 161/0（R44）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viz 15 页科研平台</a:t>
            </a:r>
            <a:r>
              <a:rPr sz="1150">
                <a:solidFill>
                  <a:srgbClr val="495057"/>
                </a:solidFill>
                <a:latin typeface="Songti SC"/>
              </a:rPr>
              <a:t>v1.3-final 封板（法定边界，本轮零改动）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本周 R41–R46</a:t>
            </a:r>
            <a:r>
              <a:rPr sz="1150">
                <a:solidFill>
                  <a:srgbClr val="495057"/>
                </a:solidFill>
                <a:latin typeface="Songti SC"/>
              </a:rPr>
              <a:t>布局真值源 / 冻结取证 / 三机串列 oracle / 七步演示 / 软著材料——6 轮 · 12 张新证据截图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演示入口</a:t>
            </a:r>
            <a:r>
              <a:rPr sz="1150">
                <a:solidFill>
                  <a:srgbClr val="495057"/>
                </a:solidFill>
                <a:latin typeface="Songti SC"/>
              </a:rPr>
              <a:t>?demo=1&amp;layout=1x3（七步流程，3299.8 kW 可现场复现）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874519"/>
          <a:ext cx="50566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463040"/>
                <a:gridCol w="1856231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成员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D2024"/>
                          </a:solidFill>
                          <a:latin typeface="Arial"/>
                        </a:rPr>
                        <a:t>现状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厉今飞（负责人）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三机 PINN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已交接 · 待训练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洪祖名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代理模型 + PPO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8/8 交付 · 优化接口已定义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袁夫达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建模 + 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FLORIS 2448 条 + GCH/CC 各 1224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田铭雨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CFD 高保真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⚠ 最小复现包零痕迹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孙承泽（汇报人）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可视化 + 材料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Arial"/>
                        </a:rPr>
                        <a:t>本周 6 轮：演示 + 软著 + 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1520" y="5779008"/>
            <a:ext cx="10725912" cy="457200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050">
                <a:solidFill>
                  <a:srgbClr val="8C5D5D"/>
                </a:solidFill>
                <a:latin typeface="Songti SC"/>
              </a:rPr>
              <a:t>【待收集】3–5 分钟演示视频（9.19 成果包指定 · 可视化同学责任 · 下一工作项）；成员贡献表初稿（按提交 + 材料台账可自动生成）。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8869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2024"/>
                </a:solidFill>
                <a:latin typeface="Arial"/>
              </a:defRPr>
            </a:pPr>
            <a:r>
              <a:t>THANKS FOR YOUR ATTENTION / Q &amp; A</a:t>
            </a:r>
          </a:p>
          <a:p>
            <a:pPr>
              <a:defRPr sz="1300" b="1">
                <a:solidFill>
                  <a:srgbClr val="4D6884"/>
                </a:solidFill>
                <a:latin typeface="Songti SC"/>
              </a:defRPr>
            </a:pPr>
            <a:r>
              <a:t>西安交通大学 · 能源与动力工程学院 · 大学生创新训练项目团队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95057"/>
                </a:solidFill>
                <a:latin typeface="Arial"/>
              </a:defRPr>
            </a:pPr>
            <a:r>
              <a:t>09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答辩证据骨架 | 汇报人：孙承泽 (指导教师：李良星 副教授) | 瑞士网格排版规范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9445752" cy="39319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D2024"/>
                </a:solidFill>
                <a:latin typeface="Songti SC"/>
              </a:defRPr>
            </a:pPr>
            <a:r>
              <a:t>感谢指导！请李良星老师及全体组员批评指正</a:t>
            </a:r>
          </a:p>
          <a:p>
            <a:pPr algn="ctr">
              <a:spcBef>
                <a:spcPts val="1400"/>
              </a:spcBef>
              <a:defRPr sz="1400">
                <a:solidFill>
                  <a:srgbClr val="495057"/>
                </a:solidFill>
                <a:latin typeface="Songti SC"/>
              </a:defRPr>
            </a:pPr>
            <a:r>
              <a:t>多机协同智能功率控制与数字孪生演示平台 · 答辩证据骨架 v1（2026-10-05）</a:t>
            </a:r>
          </a:p>
          <a:p>
            <a:pPr algn="ctr">
              <a:spcBef>
                <a:spcPts val="1200"/>
              </a:spcBef>
              <a:defRPr sz="1100">
                <a:solidFill>
                  <a:srgbClr val="495057"/>
                </a:solidFill>
                <a:latin typeface="Songti SC"/>
              </a:defRPr>
            </a:pPr>
            <a:r>
              <a:t>证据清单权威来源：docs/research/round43_答辩骨架.md —— 本 PPT 是它的渲染；收集不到的证据以【待收集】如实留痕（9.19 §八）。</a:t>
            </a:r>
          </a:p>
          <a:p>
            <a:pPr algn="ctr">
              <a:spcBef>
                <a:spcPts val="1000"/>
              </a:spcBef>
              <a:defRPr sz="1050">
                <a:solidFill>
                  <a:srgbClr val="8C5D5D"/>
                </a:solidFill>
                <a:latin typeface="Songti SC"/>
              </a:defRPr>
            </a:pPr>
            <a:r>
              <a:t>数字口径图例：【申请书原文】｜【会议决议】｜【真值 = FLORIS 4.6.6 模拟真值】｜【代理 = 浏览器内核 / 场景仿真】｜【实测 = 本沙箱实测】｜【讨论目标 = 9.19 验收门槛】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